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29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4"/>
        <p:guide pos="293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73835"/>
            <a:ext cx="11463655" cy="336105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3900" b="1">
                <a:solidFill>
                  <a:srgbClr val="FFFFFF"/>
                </a:solidFill>
              </a:defRPr>
            </a:pPr>
            <a:endParaRPr sz="4800">
              <a:solidFill>
                <a:schemeClr val="tx2"/>
              </a:solidFill>
            </a:endParaRPr>
          </a:p>
          <a:p>
            <a:pPr algn="ctr">
              <a:defRPr sz="3900" b="1">
                <a:solidFill>
                  <a:srgbClr val="FFFFFF"/>
                </a:solidFill>
              </a:defRPr>
            </a:pPr>
            <a:r>
              <a:rPr sz="4800">
                <a:solidFill>
                  <a:schemeClr val="tx2"/>
                </a:solidFill>
              </a:rPr>
              <a:t>MUC01 – Retail Sale</a:t>
            </a:r>
            <a:r>
              <a:rPr lang="en-US" sz="4800">
                <a:solidFill>
                  <a:schemeClr val="tx2"/>
                </a:solidFill>
              </a:rPr>
              <a:t>s</a:t>
            </a:r>
            <a:r>
              <a:rPr sz="4800">
                <a:solidFill>
                  <a:schemeClr val="tx2"/>
                </a:solidFill>
              </a:rPr>
              <a:t> Pulse &amp; Pipeline</a:t>
            </a:r>
            <a:endParaRPr sz="4800">
              <a:solidFill>
                <a:schemeClr val="tx2"/>
              </a:solidFill>
            </a:endParaRPr>
          </a:p>
          <a:p>
            <a:pPr algn="ctr">
              <a:defRPr sz="1300">
                <a:solidFill>
                  <a:srgbClr val="DCE6F0"/>
                </a:solidFill>
              </a:defRPr>
            </a:pPr>
            <a:r>
              <a:rPr sz="2800">
                <a:solidFill>
                  <a:schemeClr val="tx2"/>
                </a:solidFill>
              </a:rPr>
              <a:t>Historical Retail Sales Analysis + Weekly API Pipeline</a:t>
            </a:r>
            <a:endParaRPr sz="2800">
              <a:solidFill>
                <a:schemeClr val="tx2"/>
              </a:solidFill>
            </a:endParaRPr>
          </a:p>
          <a:p>
            <a:pPr algn="ctr">
              <a:defRPr sz="1300">
                <a:solidFill>
                  <a:srgbClr val="DCE6F0"/>
                </a:solidFill>
              </a:defRPr>
            </a:pPr>
            <a:endParaRPr sz="2400">
              <a:solidFill>
                <a:srgbClr val="FF0000"/>
              </a:solidFill>
              <a:sym typeface="+mn-ea"/>
            </a:endParaRPr>
          </a:p>
          <a:p>
            <a:pPr marL="3657600" lvl="8" indent="457200" algn="ctr">
              <a:defRPr sz="1300">
                <a:solidFill>
                  <a:srgbClr val="DCE6F0"/>
                </a:solidFill>
              </a:defRPr>
            </a:pPr>
            <a:r>
              <a:rPr lang="en-US" sz="2000" b="1" i="1">
                <a:solidFill>
                  <a:srgbClr val="FF0000"/>
                </a:solidFill>
                <a:sym typeface="+mn-ea"/>
              </a:rPr>
              <a:t>              Presented by</a:t>
            </a:r>
            <a:r>
              <a:rPr lang="en-US" sz="3600" b="1">
                <a:solidFill>
                  <a:srgbClr val="FF0000"/>
                </a:solidFill>
                <a:sym typeface="+mn-ea"/>
              </a:rPr>
              <a:t> </a:t>
            </a:r>
            <a:r>
              <a:rPr sz="3600" b="1">
                <a:solidFill>
                  <a:srgbClr val="FF0000"/>
                </a:solidFill>
                <a:sym typeface="+mn-ea"/>
              </a:rPr>
              <a:t>VALLE RAMESH</a:t>
            </a:r>
            <a:endParaRPr sz="3600" b="1">
              <a:sym typeface="+mn-ea"/>
            </a:endParaRPr>
          </a:p>
          <a:p>
            <a:pPr algn="ctr">
              <a:defRPr sz="1300">
                <a:solidFill>
                  <a:srgbClr val="DCE6F0"/>
                </a:solidFill>
              </a:defRPr>
            </a:pPr>
            <a:endParaRPr sz="36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47035" y="459105"/>
            <a:ext cx="7097395" cy="4762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just">
              <a:defRPr sz="2500" b="1">
                <a:solidFill>
                  <a:srgbClr val="1C304A"/>
                </a:solidFill>
              </a:defRPr>
            </a:pPr>
            <a:r>
              <a:rPr lang="en-US" altLang="en-GB"/>
              <a:t>Part - 1: Retail Sales Pulse: Exploratory Data Analysis</a:t>
            </a:r>
            <a:endParaRPr lang="en-US" altLang="en-GB"/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06755" y="1936877"/>
            <a:ext cx="2240280" cy="566928"/>
          </a:xfrm>
          <a:prstGeom prst="roundRect">
            <a:avLst/>
          </a:prstGeom>
          <a:solidFill>
            <a:srgbClr val="E8F0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843915" y="2028317"/>
            <a:ext cx="192024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304A"/>
                </a:solidFill>
              </a:defRPr>
            </a:pPr>
            <a:r>
              <a:t>.read_csv()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3175635" y="2000885"/>
            <a:ext cx="81381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rPr sz="2000" b="1"/>
              <a:t>Load the MUC01 retail sales CSV into a DataFrame.</a:t>
            </a:r>
            <a:endParaRPr sz="2000" b="1"/>
          </a:p>
        </p:txBody>
      </p:sp>
      <p:sp>
        <p:nvSpPr>
          <p:cNvPr id="8" name="Rounded Rectangle 7"/>
          <p:cNvSpPr/>
          <p:nvPr>
            <p:custDataLst>
              <p:tags r:id="rId4"/>
            </p:custDataLst>
          </p:nvPr>
        </p:nvSpPr>
        <p:spPr>
          <a:xfrm>
            <a:off x="706755" y="2695829"/>
            <a:ext cx="2240280" cy="566928"/>
          </a:xfrm>
          <a:prstGeom prst="roundRect">
            <a:avLst/>
          </a:prstGeom>
          <a:solidFill>
            <a:srgbClr val="E8F0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843915" y="2787269"/>
            <a:ext cx="192024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304A"/>
                </a:solidFill>
              </a:defRPr>
            </a:pPr>
            <a:r>
              <a:rPr lang="en-US" altLang="en-GB"/>
              <a:t>df.columns</a:t>
            </a:r>
            <a:endParaRPr lang="en-US" altLang="en-GB"/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3175635" y="2631440"/>
            <a:ext cx="874522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rPr lang="en-US" altLang="en-GB" sz="2000" b="1"/>
              <a:t>Index(['transaction_id', 'date', 'store_id', 'store_city', 'category', 'product_name', 'units_sold', 'unit_price', 'revenue', 'discount_pct'], dtype='str')</a:t>
            </a:r>
            <a:endParaRPr lang="en-US" altLang="en-GB" sz="2000" b="1"/>
          </a:p>
        </p:txBody>
      </p:sp>
      <p:sp>
        <p:nvSpPr>
          <p:cNvPr id="11" name="Rounded Rectangle 10"/>
          <p:cNvSpPr/>
          <p:nvPr>
            <p:custDataLst>
              <p:tags r:id="rId7"/>
            </p:custDataLst>
          </p:nvPr>
        </p:nvSpPr>
        <p:spPr>
          <a:xfrm>
            <a:off x="706755" y="3454781"/>
            <a:ext cx="2240280" cy="566928"/>
          </a:xfrm>
          <a:prstGeom prst="roundRect">
            <a:avLst/>
          </a:prstGeom>
          <a:solidFill>
            <a:srgbClr val="E8F0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843915" y="3546221"/>
            <a:ext cx="192024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304A"/>
                </a:solidFill>
              </a:defRPr>
            </a:pPr>
            <a:r>
              <a:t>.shape</a:t>
            </a: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3175635" y="3518789"/>
            <a:ext cx="81381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rPr lang="en-US" sz="2000" b="1" u="sng"/>
              <a:t>Output</a:t>
            </a:r>
            <a:r>
              <a:rPr lang="en-US" sz="2000" b="1"/>
              <a:t>:- </a:t>
            </a:r>
            <a:r>
              <a:rPr lang="en-US" altLang="en-GB" sz="2000" b="1"/>
              <a:t>(107836, 10)</a:t>
            </a:r>
            <a:endParaRPr lang="en-US" altLang="en-GB" sz="2000" b="1"/>
          </a:p>
        </p:txBody>
      </p:sp>
      <p:sp>
        <p:nvSpPr>
          <p:cNvPr id="14" name="Rounded Rectangle 13"/>
          <p:cNvSpPr/>
          <p:nvPr>
            <p:custDataLst>
              <p:tags r:id="rId10"/>
            </p:custDataLst>
          </p:nvPr>
        </p:nvSpPr>
        <p:spPr>
          <a:xfrm>
            <a:off x="706755" y="4213732"/>
            <a:ext cx="2240280" cy="566928"/>
          </a:xfrm>
          <a:prstGeom prst="roundRect">
            <a:avLst/>
          </a:prstGeom>
          <a:solidFill>
            <a:srgbClr val="E8F0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843915" y="4305172"/>
            <a:ext cx="192024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304A"/>
                </a:solidFill>
              </a:defRPr>
            </a:pPr>
            <a:r>
              <a:rPr lang="en-US" altLang="en-GB"/>
              <a:t>df.dtypes</a:t>
            </a:r>
            <a:endParaRPr lang="en-US" altLang="en-GB"/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3175635" y="4277740"/>
            <a:ext cx="81381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rPr lang="en-US" altLang="en-GB" sz="2000" b="1"/>
              <a:t>df.dtypes provides data types of columns. 		</a:t>
            </a:r>
            <a:r>
              <a:rPr lang="en-US" sz="2000" b="1" u="sng">
                <a:sym typeface="+mn-ea"/>
              </a:rPr>
              <a:t>Output</a:t>
            </a:r>
            <a:r>
              <a:rPr lang="en-US" sz="2000" b="1">
                <a:sym typeface="+mn-ea"/>
              </a:rPr>
              <a:t>:-</a:t>
            </a:r>
            <a:r>
              <a:rPr lang="en-US" altLang="en-GB" sz="2000" b="1"/>
              <a:t> date  - str</a:t>
            </a:r>
            <a:endParaRPr lang="en-US" altLang="en-GB" sz="2000" b="1"/>
          </a:p>
        </p:txBody>
      </p:sp>
      <p:sp>
        <p:nvSpPr>
          <p:cNvPr id="17" name="Rounded Rectangle 16"/>
          <p:cNvSpPr/>
          <p:nvPr>
            <p:custDataLst>
              <p:tags r:id="rId13"/>
            </p:custDataLst>
          </p:nvPr>
        </p:nvSpPr>
        <p:spPr>
          <a:xfrm>
            <a:off x="706755" y="4972685"/>
            <a:ext cx="3560445" cy="567055"/>
          </a:xfrm>
          <a:prstGeom prst="roundRect">
            <a:avLst/>
          </a:prstGeom>
          <a:solidFill>
            <a:srgbClr val="E8F0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843915" y="5064125"/>
            <a:ext cx="30848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304A"/>
                </a:solidFill>
              </a:defRPr>
            </a:pPr>
            <a:r>
              <a:rPr lang="en-US" altLang="en-GB" sz="1600"/>
              <a:t>date column to datetime format</a:t>
            </a:r>
            <a:endParaRPr lang="en-US" altLang="en-GB" sz="1600"/>
          </a:p>
        </p:txBody>
      </p:sp>
      <p:sp>
        <p:nvSpPr>
          <p:cNvPr id="20" name="Rounded Rectangle 19"/>
          <p:cNvSpPr/>
          <p:nvPr>
            <p:custDataLst>
              <p:tags r:id="rId15"/>
            </p:custDataLst>
          </p:nvPr>
        </p:nvSpPr>
        <p:spPr>
          <a:xfrm>
            <a:off x="706755" y="5731637"/>
            <a:ext cx="2240280" cy="566928"/>
          </a:xfrm>
          <a:prstGeom prst="roundRect">
            <a:avLst/>
          </a:prstGeom>
          <a:solidFill>
            <a:srgbClr val="E8F0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6"/>
            </p:custDataLst>
          </p:nvPr>
        </p:nvSpPr>
        <p:spPr>
          <a:xfrm>
            <a:off x="843915" y="5823076"/>
            <a:ext cx="192024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304A"/>
                </a:solidFill>
              </a:defRPr>
            </a:pPr>
            <a:r>
              <a:rPr lang="en-US" altLang="en-GB"/>
              <a:t>df.duplicated().sum() </a:t>
            </a:r>
            <a:endParaRPr lang="en-US" altLang="en-GB"/>
          </a:p>
        </p:txBody>
      </p:sp>
      <p:sp>
        <p:nvSpPr>
          <p:cNvPr id="22" name="TextBox 21"/>
          <p:cNvSpPr txBox="1"/>
          <p:nvPr>
            <p:custDataLst>
              <p:tags r:id="rId17"/>
            </p:custDataLst>
          </p:nvPr>
        </p:nvSpPr>
        <p:spPr>
          <a:xfrm>
            <a:off x="3175635" y="5795645"/>
            <a:ext cx="81381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rPr lang="en-US" sz="2000" b="1" u="sng">
                <a:sym typeface="+mn-ea"/>
              </a:rPr>
              <a:t>Output</a:t>
            </a:r>
            <a:r>
              <a:rPr lang="en-US" sz="2000" b="1">
                <a:sym typeface="+mn-ea"/>
              </a:rPr>
              <a:t>:-</a:t>
            </a:r>
            <a:r>
              <a:rPr lang="en-US" sz="2000"/>
              <a:t> </a:t>
            </a:r>
            <a:r>
              <a:rPr lang="en-US" altLang="en-GB" sz="2000" b="1"/>
              <a:t>np.int64(0)</a:t>
            </a:r>
            <a:endParaRPr lang="en-US" altLang="en-GB" sz="2000" b="1"/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</a:t>
            </a:r>
          </a:p>
        </p:txBody>
      </p:sp>
      <p:sp>
        <p:nvSpPr>
          <p:cNvPr id="24" name="Text Box 23"/>
          <p:cNvSpPr txBox="1"/>
          <p:nvPr/>
        </p:nvSpPr>
        <p:spPr>
          <a:xfrm>
            <a:off x="675005" y="1177925"/>
            <a:ext cx="1012571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defRPr sz="2500" b="1">
                <a:solidFill>
                  <a:srgbClr val="1C304A"/>
                </a:solidFill>
              </a:defRPr>
            </a:pPr>
            <a:r>
              <a:rPr>
                <a:sym typeface="+mn-ea"/>
              </a:rPr>
              <a:t>5.1 — Basic Data Inspection</a:t>
            </a:r>
            <a:endParaRPr lang="en-GB" altLang="en-US">
              <a:sym typeface="+mn-ea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4561840" y="5078095"/>
            <a:ext cx="49352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/>
              <a:t>df["date"] = pd.to_datetime(df["date"])</a:t>
            </a:r>
            <a:endParaRPr lang="en-US" altLang="en-GB" sz="2000" b="1"/>
          </a:p>
          <a:p>
            <a:endParaRPr lang="en-US" altLang="en-GB" sz="20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5.1 — Inspection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03910"/>
            <a:ext cx="7146290" cy="2232025"/>
          </a:xfrm>
          <a:prstGeom prst="roundRect">
            <a:avLst/>
          </a:prstGeom>
          <a:solidFill>
            <a:srgbClr val="FAFBF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904620"/>
            <a:ext cx="6254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t>head() — first 5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050" y="1258570"/>
            <a:ext cx="6995160" cy="16402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00">
                <a:solidFill>
                  <a:srgbClr val="2D2D2D"/>
                </a:solidFill>
                <a:latin typeface="Consolas" panose="020B0609020204030204"/>
              </a:defRPr>
            </a:pPr>
            <a:r>
              <a:t>transaction_id       date store_id store_city    category product_name  units_sold  unit_price  revenue  discount_pct</a:t>
            </a:r>
            <a:br/>
            <a:r>
              <a:t>     TXN000001 2026-01-01      S01 Vijayawada Electronics     Smart TV           2     3075.46  5843.37             5</a:t>
            </a:r>
            <a:br/>
            <a:r>
              <a:t>     TXN000002 2026-01-01      S01 Vijayawada Electronics       Laptop           1    11598.06 11598.06             0</a:t>
            </a:r>
            <a:br/>
            <a:r>
              <a:t>     TXN000003 2026-01-01      S01 Vijayawada Electronics       Tablet           3     5738.37 15493.60            10</a:t>
            </a:r>
            <a:br/>
            <a:r>
              <a:t>     TXN000004 2026-01-01      S01 Vijayawada Electronics     Smart TV           3     3281.28  9351.65             5</a:t>
            </a:r>
            <a:br/>
            <a:r>
              <a:t>     TXN000005 2026-01-01      S01 Vijayawada     Apparel        Jeans           1     1917.14  1917.14            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94320" y="1115695"/>
            <a:ext cx="3763645" cy="1920240"/>
          </a:xfrm>
          <a:prstGeom prst="roundRect">
            <a:avLst/>
          </a:prstGeom>
          <a:solidFill>
            <a:srgbClr val="FAFBF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1597" y="1224660"/>
            <a:ext cx="40599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t>info() —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1470" y="1718945"/>
            <a:ext cx="4060190" cy="1316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2D2D2D"/>
                </a:solidFill>
                <a:latin typeface="Consolas" panose="020B0609020204030204"/>
              </a:defRPr>
            </a:pPr>
            <a:r>
              <a:rPr sz="1200"/>
              <a:t>RangeIndex: 107836 entries, 0 to 107835</a:t>
            </a:r>
            <a:br>
              <a:rPr sz="1200"/>
            </a:br>
            <a:r>
              <a:rPr sz="1200"/>
              <a:t>Data columns (total 10 columns)</a:t>
            </a:r>
            <a:br>
              <a:rPr sz="1200"/>
            </a:br>
            <a:r>
              <a:rPr sz="1200"/>
              <a:t>Non-Null Count: 107836 in all 10 columns</a:t>
            </a:r>
            <a:br>
              <a:rPr sz="1200"/>
            </a:br>
            <a:r>
              <a:rPr sz="1200"/>
              <a:t>Dtypes: float64(2), int64(2), object(6)</a:t>
            </a:r>
            <a:br>
              <a:rPr sz="1200"/>
            </a:br>
            <a:r>
              <a:rPr sz="1200"/>
              <a:t>Memory usage: ~8.2 MB</a:t>
            </a:r>
            <a:endParaRPr sz="1200"/>
          </a:p>
        </p:txBody>
      </p:sp>
      <p:sp>
        <p:nvSpPr>
          <p:cNvPr id="11" name="Rounded Rectangle 10"/>
          <p:cNvSpPr/>
          <p:nvPr/>
        </p:nvSpPr>
        <p:spPr>
          <a:xfrm>
            <a:off x="502920" y="3310890"/>
            <a:ext cx="5394960" cy="2404110"/>
          </a:xfrm>
          <a:prstGeom prst="roundRect">
            <a:avLst/>
          </a:prstGeom>
          <a:solidFill>
            <a:srgbClr val="FAFBF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3237" y="3426968"/>
            <a:ext cx="5065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t>isnull().sum() — missing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940" y="3758565"/>
            <a:ext cx="4518025" cy="1747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00">
                <a:solidFill>
                  <a:srgbClr val="2D2D2D"/>
                </a:solidFill>
                <a:latin typeface="Consolas" panose="020B0609020204030204"/>
              </a:defRPr>
            </a:pPr>
            <a:r>
              <a:rPr sz="1200"/>
              <a:t>transaction_id     0</a:t>
            </a:r>
            <a:br>
              <a:rPr sz="1200"/>
            </a:br>
            <a:r>
              <a:rPr sz="1200"/>
              <a:t>date               0</a:t>
            </a:r>
            <a:br>
              <a:rPr sz="1200"/>
            </a:br>
            <a:r>
              <a:rPr sz="1200"/>
              <a:t>store_id           0</a:t>
            </a:r>
            <a:br>
              <a:rPr sz="1200"/>
            </a:br>
            <a:r>
              <a:rPr sz="1200"/>
              <a:t>store_city         0</a:t>
            </a:r>
            <a:br>
              <a:rPr sz="1200"/>
            </a:br>
            <a:r>
              <a:rPr sz="1200"/>
              <a:t>category           0</a:t>
            </a:r>
            <a:br>
              <a:rPr sz="1200"/>
            </a:br>
            <a:r>
              <a:rPr sz="1200"/>
              <a:t>product_name       0</a:t>
            </a:r>
            <a:br>
              <a:rPr sz="1200"/>
            </a:br>
            <a:r>
              <a:rPr sz="1200"/>
              <a:t>units_sold         0</a:t>
            </a:r>
            <a:br>
              <a:rPr sz="1200"/>
            </a:br>
            <a:r>
              <a:rPr sz="1200"/>
              <a:t>unit_price         0</a:t>
            </a:r>
            <a:br>
              <a:rPr sz="1200"/>
            </a:br>
            <a:r>
              <a:rPr sz="1200"/>
              <a:t>revenue            0</a:t>
            </a:r>
            <a:br>
              <a:rPr sz="1200"/>
            </a:br>
            <a:r>
              <a:rPr sz="1200"/>
              <a:t>discount_pct       0</a:t>
            </a:r>
            <a:endParaRPr sz="1200"/>
          </a:p>
        </p:txBody>
      </p:sp>
      <p:sp>
        <p:nvSpPr>
          <p:cNvPr id="14" name="Rounded Rectangle 13"/>
          <p:cNvSpPr/>
          <p:nvPr/>
        </p:nvSpPr>
        <p:spPr>
          <a:xfrm>
            <a:off x="6122670" y="3470910"/>
            <a:ext cx="5535930" cy="2254250"/>
          </a:xfrm>
          <a:prstGeom prst="roundRect">
            <a:avLst/>
          </a:prstGeom>
          <a:solidFill>
            <a:srgbClr val="FAFBF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6815" y="3678555"/>
            <a:ext cx="5236210" cy="3841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1800"/>
              <a:t>describe() — numeric summary</a:t>
            </a:r>
            <a:endParaRPr sz="1800"/>
          </a:p>
        </p:txBody>
      </p:sp>
      <p:sp>
        <p:nvSpPr>
          <p:cNvPr id="16" name="TextBox 15"/>
          <p:cNvSpPr txBox="1"/>
          <p:nvPr/>
        </p:nvSpPr>
        <p:spPr>
          <a:xfrm>
            <a:off x="6122670" y="4218940"/>
            <a:ext cx="5894070" cy="9340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2D2D2D"/>
                </a:solidFill>
                <a:latin typeface="Consolas" panose="020B0609020204030204"/>
              </a:defRPr>
            </a:pPr>
            <a:r>
              <a:rPr sz="1400"/>
              <a:t>units_sold   mean 2.58 | median 2 | max 13</a:t>
            </a:r>
            <a:br>
              <a:rPr sz="1400"/>
            </a:br>
            <a:r>
              <a:rPr sz="1400"/>
              <a:t>unit_price   mean ₹1,778 | median ₹488 | max ₹44,990</a:t>
            </a:r>
            <a:br>
              <a:rPr sz="1400"/>
            </a:br>
            <a:r>
              <a:rPr sz="1400"/>
              <a:t>revenue      mean ₹4,264 | median ₹1,035 | max ₹355,091</a:t>
            </a:r>
            <a:br>
              <a:rPr sz="1400"/>
            </a:br>
            <a:r>
              <a:rPr sz="1400"/>
              <a:t>discount_pct mean 7.23% | median 5% | max 20%</a:t>
            </a:r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667385" y="5812155"/>
            <a:ext cx="1058227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5F91"/>
                </a:solidFill>
              </a:defRPr>
            </a:pPr>
            <a:r>
              <a:rPr sz="1600" u="sng"/>
              <a:t>Business observation</a:t>
            </a:r>
            <a:r>
              <a:rPr sz="1600"/>
              <a:t>: </a:t>
            </a:r>
            <a:r>
              <a:rPr lang="en-US" sz="1600"/>
              <a:t>T</a:t>
            </a:r>
            <a:r>
              <a:rPr sz="1600"/>
              <a:t>he dataset is complete, while the large gap between mean and median revenue indicates right-</a:t>
            </a:r>
            <a:r>
              <a:rPr lang="en-US" sz="1600"/>
              <a:t>						</a:t>
            </a:r>
            <a:r>
              <a:rPr sz="1600"/>
              <a:t>skewed transactions</a:t>
            </a:r>
            <a:r>
              <a:rPr lang="en-US" sz="1600"/>
              <a:t> </a:t>
            </a:r>
            <a:r>
              <a:rPr sz="1600"/>
              <a:t>and possible high-value outliers.</a:t>
            </a:r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5.2 — Revenue by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673798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rPr sz="1600" b="1" u="sng"/>
              <a:t>Question</a:t>
            </a:r>
            <a:r>
              <a:rPr sz="1600"/>
              <a:t>: Which stores generated the most and least revenue over six months?</a:t>
            </a:r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4208145" cy="4648835"/>
          </a:xfrm>
          <a:prstGeom prst="roundRect">
            <a:avLst/>
          </a:prstGeom>
          <a:solidFill>
            <a:srgbClr val="F7F9FB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6264" y="1344168"/>
            <a:ext cx="1488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304A"/>
                </a:solidFill>
              </a:defRPr>
            </a:pPr>
            <a:r>
              <a:rPr sz="1800" u="sng"/>
              <a:t>Steps to solve</a:t>
            </a:r>
            <a:endParaRPr sz="1800" u="sng"/>
          </a:p>
        </p:txBody>
      </p:sp>
      <p:sp>
        <p:nvSpPr>
          <p:cNvPr id="7" name="Oval 6"/>
          <p:cNvSpPr/>
          <p:nvPr/>
        </p:nvSpPr>
        <p:spPr>
          <a:xfrm>
            <a:off x="804671" y="1801368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792224"/>
            <a:ext cx="350202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Group revenue by store_id using sum().</a:t>
            </a:r>
            <a:endParaRPr sz="1600"/>
          </a:p>
        </p:txBody>
      </p:sp>
      <p:sp>
        <p:nvSpPr>
          <p:cNvPr id="9" name="Oval 8"/>
          <p:cNvSpPr/>
          <p:nvPr/>
        </p:nvSpPr>
        <p:spPr>
          <a:xfrm>
            <a:off x="804671" y="2642616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633472"/>
            <a:ext cx="307594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Sort stores from highest to lowest </a:t>
            </a:r>
            <a:endParaRPr sz="16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revenue.</a:t>
            </a:r>
            <a:endParaRPr sz="1600"/>
          </a:p>
        </p:txBody>
      </p:sp>
      <p:sp>
        <p:nvSpPr>
          <p:cNvPr id="11" name="Oval 10"/>
          <p:cNvSpPr/>
          <p:nvPr/>
        </p:nvSpPr>
        <p:spPr>
          <a:xfrm>
            <a:off x="804671" y="3483864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74720"/>
            <a:ext cx="311467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Identify top 3 and bottom 3 stores.</a:t>
            </a:r>
            <a:endParaRPr sz="1600"/>
          </a:p>
        </p:txBody>
      </p:sp>
      <p:sp>
        <p:nvSpPr>
          <p:cNvPr id="13" name="Oval 12"/>
          <p:cNvSpPr/>
          <p:nvPr/>
        </p:nvSpPr>
        <p:spPr>
          <a:xfrm>
            <a:off x="804671" y="4325112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315968"/>
            <a:ext cx="305625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Plot a ranked horizontal bar chart.</a:t>
            </a:r>
            <a:endParaRPr sz="1600"/>
          </a:p>
        </p:txBody>
      </p:sp>
      <p:sp>
        <p:nvSpPr>
          <p:cNvPr id="15" name="Oval 14"/>
          <p:cNvSpPr/>
          <p:nvPr/>
        </p:nvSpPr>
        <p:spPr>
          <a:xfrm>
            <a:off x="804671" y="5166360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5157216"/>
            <a:ext cx="308038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Interpret the performance gap for </a:t>
            </a:r>
            <a:endParaRPr sz="16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Operations.</a:t>
            </a:r>
            <a:endParaRPr sz="1600"/>
          </a:p>
        </p:txBody>
      </p:sp>
      <p:pic>
        <p:nvPicPr>
          <p:cNvPr id="17" name="Picture 16" descr="efc70065-08f6-4327-ad26-ee6b8780a17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8575" y="1096645"/>
            <a:ext cx="7012305" cy="454533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97208" y="5641721"/>
            <a:ext cx="528383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96969"/>
                </a:solidFill>
              </a:defRPr>
            </a:pPr>
            <a:r>
              <a:rPr sz="1600"/>
              <a:t>Graph output — Total Revenue by Store, January to June 2026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3265805" y="6080887"/>
            <a:ext cx="574421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5F91"/>
                </a:solidFill>
              </a:defRPr>
            </a:pPr>
            <a:r>
              <a:rPr sz="1800"/>
              <a:t>Outcome: S01 </a:t>
            </a:r>
            <a:r>
              <a:rPr lang="en-US" sz="1800"/>
              <a:t>- </a:t>
            </a:r>
            <a:r>
              <a:rPr sz="1800"/>
              <a:t>₹5.91 Cr is highest; S12 </a:t>
            </a:r>
            <a:r>
              <a:rPr lang="en-US" sz="1800"/>
              <a:t>- </a:t>
            </a:r>
            <a:r>
              <a:rPr sz="1800"/>
              <a:t>₹2.20 Cr is lowest.</a:t>
            </a:r>
            <a:endParaRPr sz="1800"/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5.3 — Category Performance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602043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rPr sz="1600" u="sng"/>
              <a:t>Question</a:t>
            </a:r>
            <a:r>
              <a:rPr sz="1600"/>
              <a:t>: Which category is declining fastest and which is most stable?</a:t>
            </a:r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640080" y="1240790"/>
            <a:ext cx="4182110" cy="5114290"/>
          </a:xfrm>
          <a:prstGeom prst="roundRect">
            <a:avLst/>
          </a:prstGeom>
          <a:solidFill>
            <a:srgbClr val="F7F9FB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92935" y="1300480"/>
            <a:ext cx="1343660" cy="39179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just">
              <a:defRPr sz="1300" b="1">
                <a:solidFill>
                  <a:srgbClr val="1C304A"/>
                </a:solidFill>
              </a:defRPr>
            </a:pPr>
            <a:r>
              <a:rPr sz="1600" u="sng"/>
              <a:t>Steps to solve</a:t>
            </a:r>
            <a:endParaRPr sz="1600" u="sng"/>
          </a:p>
        </p:txBody>
      </p:sp>
      <p:sp>
        <p:nvSpPr>
          <p:cNvPr id="7" name="Oval 6"/>
          <p:cNvSpPr/>
          <p:nvPr/>
        </p:nvSpPr>
        <p:spPr>
          <a:xfrm>
            <a:off x="804671" y="1801368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792224"/>
            <a:ext cx="289687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Convert date to monthly period.</a:t>
            </a:r>
            <a:endParaRPr sz="1600"/>
          </a:p>
        </p:txBody>
      </p:sp>
      <p:sp>
        <p:nvSpPr>
          <p:cNvPr id="9" name="Oval 8"/>
          <p:cNvSpPr/>
          <p:nvPr/>
        </p:nvSpPr>
        <p:spPr>
          <a:xfrm>
            <a:off x="804671" y="2642616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633472"/>
            <a:ext cx="348996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Group revenue by category and month.</a:t>
            </a:r>
            <a:endParaRPr sz="1600"/>
          </a:p>
        </p:txBody>
      </p:sp>
      <p:sp>
        <p:nvSpPr>
          <p:cNvPr id="11" name="Oval 10"/>
          <p:cNvSpPr/>
          <p:nvPr/>
        </p:nvSpPr>
        <p:spPr>
          <a:xfrm>
            <a:off x="804671" y="3483864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745" y="3474720"/>
            <a:ext cx="312991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Create monthly revenue trend for all five categories.</a:t>
            </a:r>
            <a:endParaRPr sz="1600"/>
          </a:p>
        </p:txBody>
      </p:sp>
      <p:sp>
        <p:nvSpPr>
          <p:cNvPr id="13" name="Oval 12"/>
          <p:cNvSpPr/>
          <p:nvPr/>
        </p:nvSpPr>
        <p:spPr>
          <a:xfrm>
            <a:off x="804671" y="4325112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315968"/>
            <a:ext cx="304482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Calculate January-to-June change.</a:t>
            </a:r>
            <a:endParaRPr sz="1600"/>
          </a:p>
        </p:txBody>
      </p:sp>
      <p:sp>
        <p:nvSpPr>
          <p:cNvPr id="15" name="Oval 14"/>
          <p:cNvSpPr/>
          <p:nvPr/>
        </p:nvSpPr>
        <p:spPr>
          <a:xfrm>
            <a:off x="804671" y="5166360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5157216"/>
            <a:ext cx="348678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Measure variation to identify the most </a:t>
            </a:r>
            <a:endParaRPr sz="16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stable category.</a:t>
            </a:r>
            <a:endParaRPr sz="1600"/>
          </a:p>
        </p:txBody>
      </p:sp>
      <p:sp>
        <p:nvSpPr>
          <p:cNvPr id="17" name="Oval 16"/>
          <p:cNvSpPr/>
          <p:nvPr/>
        </p:nvSpPr>
        <p:spPr>
          <a:xfrm>
            <a:off x="914526" y="5833618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7160" y="5875020"/>
            <a:ext cx="2314575" cy="3060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Interpret the business signal.</a:t>
            </a:r>
            <a:endParaRPr sz="1600"/>
          </a:p>
        </p:txBody>
      </p:sp>
      <p:pic>
        <p:nvPicPr>
          <p:cNvPr id="19" name="Picture 18" descr="50339bdd-2311-48e2-9423-82b79cc33c1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4750" y="1300480"/>
            <a:ext cx="6693535" cy="4800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95875" y="5968365"/>
            <a:ext cx="647128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5F91"/>
                </a:solidFill>
              </a:defRPr>
            </a:pPr>
            <a:r>
              <a:rPr sz="1600" u="sng"/>
              <a:t>Outcome</a:t>
            </a:r>
            <a:r>
              <a:rPr sz="1600"/>
              <a:t>: Electronics has the steepest decline (~₹1.60 Cr); Grocery is the </a:t>
            </a:r>
            <a:r>
              <a:rPr lang="en-US" sz="1600"/>
              <a:t>			</a:t>
            </a:r>
            <a:r>
              <a:rPr sz="1600"/>
              <a:t>most stable.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5.4 — Day-of-Week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454088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rPr sz="1800" u="sng"/>
              <a:t>Question</a:t>
            </a:r>
            <a:r>
              <a:rPr sz="1800"/>
              <a:t>: Which day performs best and worst?</a:t>
            </a:r>
            <a:endParaRPr sz="1800"/>
          </a:p>
        </p:txBody>
      </p:sp>
      <p:sp>
        <p:nvSpPr>
          <p:cNvPr id="5" name="Rounded Rectangle 4"/>
          <p:cNvSpPr/>
          <p:nvPr/>
        </p:nvSpPr>
        <p:spPr>
          <a:xfrm>
            <a:off x="640080" y="1253490"/>
            <a:ext cx="4047490" cy="5088890"/>
          </a:xfrm>
          <a:prstGeom prst="roundRect">
            <a:avLst/>
          </a:prstGeom>
          <a:solidFill>
            <a:srgbClr val="F7F9FB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0506" y="1344168"/>
            <a:ext cx="1488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1800" u="sng"/>
              <a:t>Steps to solve</a:t>
            </a:r>
            <a:endParaRPr sz="1800" u="sng"/>
          </a:p>
        </p:txBody>
      </p:sp>
      <p:sp>
        <p:nvSpPr>
          <p:cNvPr id="7" name="Oval 6"/>
          <p:cNvSpPr/>
          <p:nvPr/>
        </p:nvSpPr>
        <p:spPr>
          <a:xfrm>
            <a:off x="804671" y="1801368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792224"/>
            <a:ext cx="319468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Extract day_of_week from the date </a:t>
            </a:r>
            <a:endParaRPr sz="16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column.</a:t>
            </a:r>
            <a:endParaRPr sz="1600"/>
          </a:p>
        </p:txBody>
      </p:sp>
      <p:sp>
        <p:nvSpPr>
          <p:cNvPr id="9" name="Oval 8"/>
          <p:cNvSpPr/>
          <p:nvPr/>
        </p:nvSpPr>
        <p:spPr>
          <a:xfrm>
            <a:off x="804671" y="2642616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633472"/>
            <a:ext cx="353695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Aggregate revenue for each actual date.</a:t>
            </a:r>
            <a:endParaRPr sz="1600"/>
          </a:p>
        </p:txBody>
      </p:sp>
      <p:sp>
        <p:nvSpPr>
          <p:cNvPr id="11" name="Oval 10"/>
          <p:cNvSpPr/>
          <p:nvPr/>
        </p:nvSpPr>
        <p:spPr>
          <a:xfrm>
            <a:off x="804671" y="3483864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74720"/>
            <a:ext cx="313817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Calculate average daily revenue by </a:t>
            </a:r>
            <a:endParaRPr sz="16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weekday.</a:t>
            </a:r>
            <a:endParaRPr sz="1600"/>
          </a:p>
        </p:txBody>
      </p:sp>
      <p:sp>
        <p:nvSpPr>
          <p:cNvPr id="13" name="Oval 12"/>
          <p:cNvSpPr/>
          <p:nvPr/>
        </p:nvSpPr>
        <p:spPr>
          <a:xfrm>
            <a:off x="804671" y="4325112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315968"/>
            <a:ext cx="257873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Compare weekday averages.</a:t>
            </a:r>
            <a:endParaRPr sz="1600"/>
          </a:p>
        </p:txBody>
      </p:sp>
      <p:sp>
        <p:nvSpPr>
          <p:cNvPr id="15" name="Oval 14"/>
          <p:cNvSpPr/>
          <p:nvPr/>
        </p:nvSpPr>
        <p:spPr>
          <a:xfrm>
            <a:off x="804671" y="5166360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1072" y="5157216"/>
            <a:ext cx="358775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Use the result to recommend promotion</a:t>
            </a:r>
            <a:endParaRPr sz="16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 timing.</a:t>
            </a:r>
            <a:endParaRPr sz="1600"/>
          </a:p>
        </p:txBody>
      </p:sp>
      <p:pic>
        <p:nvPicPr>
          <p:cNvPr id="17" name="Picture 16" descr="0e822021-753d-497f-8e69-40109cc3f3b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6805" y="1275715"/>
            <a:ext cx="6884670" cy="4754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10785" y="5973953"/>
            <a:ext cx="669671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5F91"/>
                </a:solidFill>
              </a:defRPr>
            </a:pPr>
            <a:r>
              <a:rPr sz="1800" u="sng"/>
              <a:t>Outcome</a:t>
            </a:r>
            <a:r>
              <a:rPr sz="1800"/>
              <a:t>: Saturday ₹35.24 lakh is best; Monday ₹20.12 lakh is worst.</a:t>
            </a:r>
            <a:endParaRPr sz="1800"/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5.4 — Monthly Revenue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46824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rPr sz="1800"/>
              <a:t>Second required output: total revenue by month</a:t>
            </a:r>
            <a:endParaRPr sz="1800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848735" cy="5120640"/>
          </a:xfrm>
          <a:prstGeom prst="roundRect">
            <a:avLst/>
          </a:prstGeom>
          <a:solidFill>
            <a:srgbClr val="F7F9FB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1316" y="1344168"/>
            <a:ext cx="134366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1600" u="sng"/>
              <a:t>Steps to solve</a:t>
            </a:r>
            <a:endParaRPr sz="1600" u="sng"/>
          </a:p>
        </p:txBody>
      </p:sp>
      <p:sp>
        <p:nvSpPr>
          <p:cNvPr id="7" name="Oval 6"/>
          <p:cNvSpPr/>
          <p:nvPr/>
        </p:nvSpPr>
        <p:spPr>
          <a:xfrm>
            <a:off x="804671" y="1801368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792224"/>
            <a:ext cx="330771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Extract month from the date column.</a:t>
            </a:r>
            <a:endParaRPr sz="1600"/>
          </a:p>
        </p:txBody>
      </p:sp>
      <p:sp>
        <p:nvSpPr>
          <p:cNvPr id="9" name="Oval 8"/>
          <p:cNvSpPr/>
          <p:nvPr/>
        </p:nvSpPr>
        <p:spPr>
          <a:xfrm>
            <a:off x="804671" y="2642616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633472"/>
            <a:ext cx="294767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Group all transactions by month.</a:t>
            </a:r>
            <a:endParaRPr sz="1600"/>
          </a:p>
        </p:txBody>
      </p:sp>
      <p:sp>
        <p:nvSpPr>
          <p:cNvPr id="11" name="Oval 10"/>
          <p:cNvSpPr/>
          <p:nvPr/>
        </p:nvSpPr>
        <p:spPr>
          <a:xfrm>
            <a:off x="804671" y="3483864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74720"/>
            <a:ext cx="311975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Sum total revenue for each month.</a:t>
            </a:r>
            <a:endParaRPr sz="1600"/>
          </a:p>
        </p:txBody>
      </p:sp>
      <p:sp>
        <p:nvSpPr>
          <p:cNvPr id="13" name="Oval 12"/>
          <p:cNvSpPr/>
          <p:nvPr/>
        </p:nvSpPr>
        <p:spPr>
          <a:xfrm>
            <a:off x="804671" y="4325112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315968"/>
            <a:ext cx="289623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Plot the monthly revenue trend.</a:t>
            </a:r>
            <a:endParaRPr sz="1600"/>
          </a:p>
        </p:txBody>
      </p:sp>
      <p:sp>
        <p:nvSpPr>
          <p:cNvPr id="15" name="Oval 14"/>
          <p:cNvSpPr/>
          <p:nvPr/>
        </p:nvSpPr>
        <p:spPr>
          <a:xfrm>
            <a:off x="804671" y="5166360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5157216"/>
            <a:ext cx="314515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Identify the strongest and weakest </a:t>
            </a:r>
            <a:endParaRPr sz="16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month.</a:t>
            </a:r>
            <a:endParaRPr sz="1600"/>
          </a:p>
        </p:txBody>
      </p:sp>
      <p:pic>
        <p:nvPicPr>
          <p:cNvPr id="17" name="Picture 16" descr="8d8d031a-ce7a-4af8-b903-d35235d8c57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5995" y="1245870"/>
            <a:ext cx="7055485" cy="4800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59045" y="5986907"/>
            <a:ext cx="650811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5F91"/>
                </a:solidFill>
              </a:defRPr>
            </a:pPr>
            <a:r>
              <a:rPr sz="1800" u="sng"/>
              <a:t>Outcome</a:t>
            </a:r>
            <a:r>
              <a:rPr sz="1800"/>
              <a:t>: January is highest (~₹8.48 Cr); June is lowest (~₹6.93 Cr).</a:t>
            </a:r>
            <a:endParaRPr sz="1800"/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5.5 — Anomaly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73086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rPr sz="2000" u="sng"/>
              <a:t>Question</a:t>
            </a:r>
            <a:r>
              <a:rPr sz="2000"/>
              <a:t>: Which stor</a:t>
            </a:r>
            <a:r>
              <a:rPr lang="en-US" sz="2000"/>
              <a:t>e’s </a:t>
            </a:r>
            <a:r>
              <a:rPr sz="2000"/>
              <a:t>weeks</a:t>
            </a:r>
            <a:r>
              <a:rPr lang="en-US" sz="2000"/>
              <a:t> revenue</a:t>
            </a:r>
            <a:r>
              <a:rPr sz="2000"/>
              <a:t> fell more than 2 standard deviations below their own average?</a:t>
            </a:r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640080" y="1344295"/>
            <a:ext cx="5191760" cy="5330825"/>
          </a:xfrm>
          <a:prstGeom prst="roundRect">
            <a:avLst/>
          </a:prstGeom>
          <a:solidFill>
            <a:srgbClr val="F7F9FB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95651" y="1344168"/>
            <a:ext cx="1488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1800" u="sng"/>
              <a:t>Steps to solve</a:t>
            </a:r>
            <a:endParaRPr sz="1800" u="sng"/>
          </a:p>
        </p:txBody>
      </p:sp>
      <p:sp>
        <p:nvSpPr>
          <p:cNvPr id="7" name="Oval 6"/>
          <p:cNvSpPr/>
          <p:nvPr/>
        </p:nvSpPr>
        <p:spPr>
          <a:xfrm>
            <a:off x="804671" y="1801368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792224"/>
            <a:ext cx="406590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Create weekly periods from transaction dates.</a:t>
            </a:r>
            <a:endParaRPr sz="1600"/>
          </a:p>
        </p:txBody>
      </p:sp>
      <p:sp>
        <p:nvSpPr>
          <p:cNvPr id="9" name="Oval 8"/>
          <p:cNvSpPr/>
          <p:nvPr/>
        </p:nvSpPr>
        <p:spPr>
          <a:xfrm>
            <a:off x="804671" y="2642616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633472"/>
            <a:ext cx="358965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Calculate weekly revenue for each store.</a:t>
            </a:r>
            <a:endParaRPr sz="1600"/>
          </a:p>
        </p:txBody>
      </p:sp>
      <p:sp>
        <p:nvSpPr>
          <p:cNvPr id="11" name="Oval 10"/>
          <p:cNvSpPr/>
          <p:nvPr/>
        </p:nvSpPr>
        <p:spPr>
          <a:xfrm>
            <a:off x="804671" y="3483864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74720"/>
            <a:ext cx="457009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Calculate each store's mean and standard deviation.</a:t>
            </a:r>
            <a:endParaRPr sz="1600"/>
          </a:p>
        </p:txBody>
      </p:sp>
      <p:sp>
        <p:nvSpPr>
          <p:cNvPr id="13" name="Oval 12"/>
          <p:cNvSpPr/>
          <p:nvPr/>
        </p:nvSpPr>
        <p:spPr>
          <a:xfrm>
            <a:off x="804671" y="4325112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315968"/>
            <a:ext cx="410146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Set threshold = mean − 2 × standard deviation.</a:t>
            </a:r>
            <a:endParaRPr sz="1600"/>
          </a:p>
        </p:txBody>
      </p:sp>
      <p:sp>
        <p:nvSpPr>
          <p:cNvPr id="15" name="Oval 14"/>
          <p:cNvSpPr/>
          <p:nvPr/>
        </p:nvSpPr>
        <p:spPr>
          <a:xfrm>
            <a:off x="804671" y="5166360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5157216"/>
            <a:ext cx="339534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Flag store-weeks below the threshold.</a:t>
            </a:r>
            <a:endParaRPr sz="1600"/>
          </a:p>
        </p:txBody>
      </p:sp>
      <p:sp>
        <p:nvSpPr>
          <p:cNvPr id="17" name="Oval 16"/>
          <p:cNvSpPr/>
          <p:nvPr/>
        </p:nvSpPr>
        <p:spPr>
          <a:xfrm>
            <a:off x="804671" y="5933313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8062" y="5933694"/>
            <a:ext cx="440690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Suggest one possible business hypothesis per flag.</a:t>
            </a:r>
            <a:endParaRPr sz="1600"/>
          </a:p>
        </p:txBody>
      </p:sp>
      <p:sp>
        <p:nvSpPr>
          <p:cNvPr id="19" name="Rounded Rectangle 18"/>
          <p:cNvSpPr/>
          <p:nvPr/>
        </p:nvSpPr>
        <p:spPr>
          <a:xfrm>
            <a:off x="6096000" y="1344295"/>
            <a:ext cx="5425440" cy="5342255"/>
          </a:xfrm>
          <a:prstGeom prst="roundRect">
            <a:avLst/>
          </a:prstGeom>
          <a:solidFill>
            <a:srgbClr val="FAFBF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3225" y="1475740"/>
            <a:ext cx="435229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2000" u="sng"/>
              <a:t>Text output — flagged anomalies</a:t>
            </a:r>
            <a:endParaRPr sz="2000" u="sng"/>
          </a:p>
        </p:txBody>
      </p:sp>
      <p:sp>
        <p:nvSpPr>
          <p:cNvPr id="21" name="TextBox 20"/>
          <p:cNvSpPr txBox="1"/>
          <p:nvPr/>
        </p:nvSpPr>
        <p:spPr>
          <a:xfrm>
            <a:off x="6590030" y="1979295"/>
            <a:ext cx="4695190" cy="36093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>
                <a:solidFill>
                  <a:srgbClr val="2D2D2D"/>
                </a:solidFill>
                <a:latin typeface="Consolas" panose="020B0609020204030204"/>
              </a:defRPr>
            </a:pPr>
            <a:r>
              <a:rPr sz="1800"/>
              <a:t>Flagged store-week combinations</a:t>
            </a:r>
            <a:br>
              <a:rPr sz="1800"/>
            </a:br>
            <a:br>
              <a:rPr sz="1800"/>
            </a:br>
            <a:r>
              <a:rPr sz="1800"/>
              <a:t>S02 | May 18–24 | ₹11.73 lakh</a:t>
            </a:r>
            <a:br>
              <a:rPr sz="1800"/>
            </a:br>
            <a:r>
              <a:rPr sz="1800"/>
              <a:t>Possible reason: supply disruption</a:t>
            </a:r>
            <a:br>
              <a:rPr sz="1800"/>
            </a:br>
            <a:br>
              <a:rPr sz="1800"/>
            </a:br>
            <a:r>
              <a:rPr sz="1800"/>
              <a:t>S04 | Jun 8–14  | ₹11.37 lakh</a:t>
            </a:r>
            <a:br>
              <a:rPr sz="1800"/>
            </a:br>
            <a:r>
              <a:rPr sz="1800"/>
              <a:t>Possible reason: competitor activity</a:t>
            </a:r>
            <a:br>
              <a:rPr sz="1800"/>
            </a:br>
            <a:br>
              <a:rPr sz="1800"/>
            </a:br>
            <a:r>
              <a:rPr sz="1800"/>
              <a:t>S05 | Feb 9–15  | ₹6.56 lakh</a:t>
            </a:r>
            <a:br>
              <a:rPr sz="1800"/>
            </a:br>
            <a:r>
              <a:rPr sz="1800"/>
              <a:t>Possible reason: local event</a:t>
            </a:r>
            <a:br>
              <a:rPr sz="1800"/>
            </a:br>
            <a:br>
              <a:rPr sz="1800"/>
            </a:br>
            <a:r>
              <a:rPr sz="1800"/>
              <a:t>S10 | Apr 6–12  | ₹5.06 lakh</a:t>
            </a:r>
            <a:br>
              <a:rPr sz="1800"/>
            </a:br>
            <a:r>
              <a:rPr sz="1800"/>
              <a:t>Possible reason: pricing issue</a:t>
            </a:r>
            <a:endParaRPr sz="1800"/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5.6 — Business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450405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rPr sz="1800"/>
              <a:t>Close Part 1 with one clear, data-backed action</a:t>
            </a:r>
            <a:endParaRPr sz="1800"/>
          </a:p>
        </p:txBody>
      </p:sp>
      <p:sp>
        <p:nvSpPr>
          <p:cNvPr id="5" name="Rounded Rectangle 4"/>
          <p:cNvSpPr/>
          <p:nvPr/>
        </p:nvSpPr>
        <p:spPr>
          <a:xfrm>
            <a:off x="597535" y="1229995"/>
            <a:ext cx="4095115" cy="4568190"/>
          </a:xfrm>
          <a:prstGeom prst="roundRect">
            <a:avLst/>
          </a:prstGeom>
          <a:solidFill>
            <a:srgbClr val="F7F9FB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41296" y="1344168"/>
            <a:ext cx="1488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1800" u="sng"/>
              <a:t>Steps to solve</a:t>
            </a:r>
            <a:endParaRPr sz="1800" u="sng"/>
          </a:p>
        </p:txBody>
      </p:sp>
      <p:sp>
        <p:nvSpPr>
          <p:cNvPr id="7" name="Oval 6"/>
          <p:cNvSpPr/>
          <p:nvPr/>
        </p:nvSpPr>
        <p:spPr>
          <a:xfrm>
            <a:off x="804671" y="1801368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792224"/>
            <a:ext cx="343090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Select the most important finding.</a:t>
            </a:r>
            <a:endParaRPr sz="1800"/>
          </a:p>
        </p:txBody>
      </p:sp>
      <p:sp>
        <p:nvSpPr>
          <p:cNvPr id="9" name="Oval 8"/>
          <p:cNvSpPr/>
          <p:nvPr/>
        </p:nvSpPr>
        <p:spPr>
          <a:xfrm>
            <a:off x="804671" y="2642616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633472"/>
            <a:ext cx="301688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Name the category/store and </a:t>
            </a:r>
            <a:endParaRPr sz="18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supporting number.</a:t>
            </a:r>
            <a:endParaRPr sz="1800"/>
          </a:p>
        </p:txBody>
      </p:sp>
      <p:sp>
        <p:nvSpPr>
          <p:cNvPr id="11" name="Oval 10"/>
          <p:cNvSpPr/>
          <p:nvPr/>
        </p:nvSpPr>
        <p:spPr>
          <a:xfrm>
            <a:off x="804671" y="3483864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74720"/>
            <a:ext cx="334708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Recommend one specific operational </a:t>
            </a:r>
            <a:endParaRPr sz="16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action.</a:t>
            </a:r>
            <a:endParaRPr sz="1600"/>
          </a:p>
        </p:txBody>
      </p:sp>
      <p:sp>
        <p:nvSpPr>
          <p:cNvPr id="13" name="Oval 12"/>
          <p:cNvSpPr/>
          <p:nvPr/>
        </p:nvSpPr>
        <p:spPr>
          <a:xfrm>
            <a:off x="804671" y="4325112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315968"/>
            <a:ext cx="327342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State what additional data is needed</a:t>
            </a:r>
            <a:endParaRPr sz="16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before final confidence.</a:t>
            </a:r>
            <a:endParaRPr sz="1600"/>
          </a:p>
        </p:txBody>
      </p:sp>
      <p:sp>
        <p:nvSpPr>
          <p:cNvPr id="15" name="Rounded Rectangle 14"/>
          <p:cNvSpPr/>
          <p:nvPr/>
        </p:nvSpPr>
        <p:spPr>
          <a:xfrm>
            <a:off x="4991100" y="1344295"/>
            <a:ext cx="6697345" cy="4526280"/>
          </a:xfrm>
          <a:prstGeom prst="roundRect">
            <a:avLst/>
          </a:prstGeom>
          <a:solidFill>
            <a:srgbClr val="FAFBF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2230" y="1344295"/>
            <a:ext cx="38557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1600" u="sng"/>
              <a:t>Business recommendation — text output</a:t>
            </a:r>
            <a:endParaRPr sz="1600" u="sng"/>
          </a:p>
        </p:txBody>
      </p:sp>
      <p:sp>
        <p:nvSpPr>
          <p:cNvPr id="17" name="TextBox 16"/>
          <p:cNvSpPr txBox="1"/>
          <p:nvPr/>
        </p:nvSpPr>
        <p:spPr>
          <a:xfrm>
            <a:off x="5252085" y="1801495"/>
            <a:ext cx="6436360" cy="332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Consolas" panose="020B0609020204030204"/>
              </a:defRPr>
            </a:pPr>
            <a:r>
              <a:rPr b="1" u="sng"/>
              <a:t>Most important finding:</a:t>
            </a:r>
            <a:br>
              <a:rPr b="1" u="sng"/>
            </a:br>
            <a:r>
              <a:t>Electronics declined by approximately ₹1.60 crore from January to June.</a:t>
            </a:r>
            <a:br/>
            <a:br/>
            <a:r>
              <a:rPr b="1" u="sng"/>
              <a:t>Recommended action</a:t>
            </a:r>
            <a:r>
              <a:t>:</a:t>
            </a:r>
            <a:br/>
            <a:r>
              <a:t>Investigate the Electronics decline before allocating Q3 promotional spend.</a:t>
            </a:r>
            <a:br/>
            <a:br/>
            <a:r>
              <a:rPr b="1" u="sng"/>
              <a:t>Supporting concern</a:t>
            </a:r>
            <a:r>
              <a:t>:</a:t>
            </a:r>
            <a:br/>
            <a:r>
              <a:t>S12 generated only ₹2.20 crore versus S01's ₹5.91 crore.</a:t>
            </a:r>
            <a:br/>
            <a:br/>
            <a:r>
              <a:rPr b="1" u="sng"/>
              <a:t>Additional data required:</a:t>
            </a:r>
            <a:br>
              <a:rPr b="1" u="sng"/>
            </a:br>
            <a:r>
              <a:t>Inventory availability, product-level pricing, competitor activity,</a:t>
            </a:r>
            <a:r>
              <a:rPr lang="en-US"/>
              <a:t> </a:t>
            </a:r>
            <a:r>
              <a:t>store footfall and promotion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5.7 — Weekly API Ingestion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185"/>
            <a:ext cx="4479925" cy="3808095"/>
          </a:xfrm>
          <a:prstGeom prst="roundRect">
            <a:avLst/>
          </a:prstGeom>
          <a:solidFill>
            <a:srgbClr val="F7F9FB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78025" y="1344295"/>
            <a:ext cx="18567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2000" u="sng"/>
              <a:t>Steps to solve</a:t>
            </a:r>
            <a:endParaRPr sz="2000" u="sng"/>
          </a:p>
        </p:txBody>
      </p:sp>
      <p:sp>
        <p:nvSpPr>
          <p:cNvPr id="7" name="Oval 6"/>
          <p:cNvSpPr/>
          <p:nvPr/>
        </p:nvSpPr>
        <p:spPr>
          <a:xfrm>
            <a:off x="804671" y="1801368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792224"/>
            <a:ext cx="25704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Open the clean JSON file.</a:t>
            </a:r>
            <a:endParaRPr sz="1800"/>
          </a:p>
        </p:txBody>
      </p:sp>
      <p:sp>
        <p:nvSpPr>
          <p:cNvPr id="9" name="Oval 8"/>
          <p:cNvSpPr/>
          <p:nvPr/>
        </p:nvSpPr>
        <p:spPr>
          <a:xfrm>
            <a:off x="804671" y="2642616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633472"/>
            <a:ext cx="310324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Inspect the top-level structure.</a:t>
            </a:r>
            <a:endParaRPr sz="1800"/>
          </a:p>
        </p:txBody>
      </p:sp>
      <p:sp>
        <p:nvSpPr>
          <p:cNvPr id="11" name="Oval 10"/>
          <p:cNvSpPr/>
          <p:nvPr/>
        </p:nvSpPr>
        <p:spPr>
          <a:xfrm>
            <a:off x="804671" y="3483864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74720"/>
            <a:ext cx="22472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Read metadata fields.</a:t>
            </a:r>
            <a:endParaRPr sz="1800"/>
          </a:p>
        </p:txBody>
      </p:sp>
      <p:sp>
        <p:nvSpPr>
          <p:cNvPr id="13" name="Oval 12"/>
          <p:cNvSpPr/>
          <p:nvPr/>
        </p:nvSpPr>
        <p:spPr>
          <a:xfrm>
            <a:off x="804671" y="4325112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315968"/>
            <a:ext cx="20777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Extract the data list.</a:t>
            </a:r>
            <a:endParaRPr sz="1800"/>
          </a:p>
        </p:txBody>
      </p:sp>
      <p:sp>
        <p:nvSpPr>
          <p:cNvPr id="17" name="Rounded Rectangle 16"/>
          <p:cNvSpPr/>
          <p:nvPr/>
        </p:nvSpPr>
        <p:spPr>
          <a:xfrm>
            <a:off x="5332095" y="1188720"/>
            <a:ext cx="6143625" cy="4526280"/>
          </a:xfrm>
          <a:prstGeom prst="roundRect">
            <a:avLst/>
          </a:prstGeom>
          <a:solidFill>
            <a:srgbClr val="FAFBF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1635" y="1400175"/>
            <a:ext cx="31953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1800" u="sng"/>
              <a:t>Text output — JSON structure</a:t>
            </a:r>
            <a:endParaRPr sz="1800" u="sng"/>
          </a:p>
        </p:txBody>
      </p:sp>
      <p:sp>
        <p:nvSpPr>
          <p:cNvPr id="19" name="TextBox 18"/>
          <p:cNvSpPr txBox="1"/>
          <p:nvPr/>
        </p:nvSpPr>
        <p:spPr>
          <a:xfrm>
            <a:off x="5619750" y="1739900"/>
            <a:ext cx="5755640" cy="3422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>
                <a:solidFill>
                  <a:srgbClr val="2D2D2D"/>
                </a:solidFill>
                <a:latin typeface="Consolas" panose="020B0609020204030204"/>
              </a:defRPr>
            </a:pPr>
            <a:r>
              <a:rPr sz="1800" b="1" u="sng"/>
              <a:t>Top-level JSON structure</a:t>
            </a:r>
            <a:br>
              <a:rPr sz="1800"/>
            </a:br>
            <a:r>
              <a:rPr sz="1800"/>
              <a:t>status</a:t>
            </a:r>
            <a:br>
              <a:rPr sz="1800"/>
            </a:br>
            <a:r>
              <a:rPr sz="1800"/>
              <a:t>request_id</a:t>
            </a:r>
            <a:br>
              <a:rPr sz="1800"/>
            </a:br>
            <a:r>
              <a:rPr sz="1800"/>
              <a:t>generated_at</a:t>
            </a:r>
            <a:br>
              <a:rPr sz="1800"/>
            </a:br>
            <a:r>
              <a:rPr sz="1800"/>
              <a:t>period</a:t>
            </a:r>
            <a:br>
              <a:rPr sz="1800"/>
            </a:br>
            <a:r>
              <a:rPr sz="1800"/>
              <a:t>record_count</a:t>
            </a:r>
            <a:endParaRPr sz="1800"/>
          </a:p>
          <a:p>
            <a:pPr>
              <a:defRPr sz="1500">
                <a:solidFill>
                  <a:srgbClr val="2D2D2D"/>
                </a:solidFill>
                <a:latin typeface="Consolas" panose="020B0609020204030204"/>
              </a:defRPr>
            </a:pPr>
            <a:r>
              <a:rPr lang="en-US" sz="1800"/>
              <a:t>data</a:t>
            </a:r>
            <a:endParaRPr lang="en-US" sz="1800"/>
          </a:p>
          <a:p>
            <a:pPr>
              <a:defRPr sz="1500">
                <a:solidFill>
                  <a:srgbClr val="2D2D2D"/>
                </a:solidFill>
                <a:latin typeface="Consolas" panose="020B0609020204030204"/>
              </a:defRPr>
            </a:pPr>
            <a:br>
              <a:rPr sz="1800"/>
            </a:br>
            <a:r>
              <a:rPr sz="1800"/>
              <a:t>data → list of transaction records</a:t>
            </a:r>
            <a:br>
              <a:rPr sz="1800"/>
            </a:br>
            <a:br>
              <a:rPr sz="1800"/>
            </a:br>
            <a:r>
              <a:rPr sz="1800" b="1" u="sng"/>
              <a:t>Each transaction contains</a:t>
            </a:r>
            <a:r>
              <a:rPr sz="1800"/>
              <a:t>:</a:t>
            </a:r>
            <a:br>
              <a:rPr sz="1800"/>
            </a:br>
            <a:r>
              <a:rPr sz="1800"/>
              <a:t>transaction_id, date, store_id, store_city,</a:t>
            </a:r>
            <a:br>
              <a:rPr sz="1800"/>
            </a:br>
            <a:r>
              <a:rPr sz="1800"/>
              <a:t>category, product_name, units_sold,</a:t>
            </a:r>
            <a:br>
              <a:rPr sz="1800"/>
            </a:br>
            <a:r>
              <a:rPr sz="1800"/>
              <a:t>unit_price, revenue, discount_pct</a:t>
            </a:r>
            <a:endParaRPr sz="1800"/>
          </a:p>
        </p:txBody>
      </p:sp>
      <p:sp>
        <p:nvSpPr>
          <p:cNvPr id="20" name="TextBox 19"/>
          <p:cNvSpPr txBox="1"/>
          <p:nvPr/>
        </p:nvSpPr>
        <p:spPr>
          <a:xfrm>
            <a:off x="5649595" y="5852160"/>
            <a:ext cx="430085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5F91"/>
                </a:solidFill>
              </a:defRPr>
            </a:pPr>
            <a:r>
              <a:rPr sz="1800" u="sng"/>
              <a:t>API period:</a:t>
            </a:r>
            <a:r>
              <a:rPr sz="1800"/>
              <a:t> 2026-06-24 to 2026-06-30</a:t>
            </a:r>
            <a:endParaRPr sz="1800"/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5.8 — Load &amp; Verify Clean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625919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rPr sz="1800" u="sng"/>
              <a:t>Question</a:t>
            </a:r>
            <a:r>
              <a:rPr sz="1800"/>
              <a:t>: Did the API metadata match the actual records loaded?</a:t>
            </a:r>
            <a:endParaRPr sz="1800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4333240" cy="5120640"/>
          </a:xfrm>
          <a:prstGeom prst="roundRect">
            <a:avLst/>
          </a:prstGeom>
          <a:solidFill>
            <a:srgbClr val="F7F9FB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3681" y="1344168"/>
            <a:ext cx="163449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2000" u="sng"/>
              <a:t>Steps to solve</a:t>
            </a:r>
            <a:endParaRPr sz="2000" u="sng"/>
          </a:p>
        </p:txBody>
      </p:sp>
      <p:sp>
        <p:nvSpPr>
          <p:cNvPr id="7" name="Oval 6"/>
          <p:cNvSpPr/>
          <p:nvPr/>
        </p:nvSpPr>
        <p:spPr>
          <a:xfrm>
            <a:off x="804671" y="1801368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792224"/>
            <a:ext cx="34759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Convert data list into a DataFrame.</a:t>
            </a:r>
            <a:endParaRPr sz="1800"/>
          </a:p>
        </p:txBody>
      </p:sp>
      <p:sp>
        <p:nvSpPr>
          <p:cNvPr id="9" name="Oval 8"/>
          <p:cNvSpPr/>
          <p:nvPr/>
        </p:nvSpPr>
        <p:spPr>
          <a:xfrm>
            <a:off x="804671" y="2642616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633472"/>
            <a:ext cx="26250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Convert date to datetime.</a:t>
            </a:r>
            <a:endParaRPr sz="1800"/>
          </a:p>
        </p:txBody>
      </p:sp>
      <p:sp>
        <p:nvSpPr>
          <p:cNvPr id="11" name="Oval 10"/>
          <p:cNvSpPr/>
          <p:nvPr/>
        </p:nvSpPr>
        <p:spPr>
          <a:xfrm>
            <a:off x="804671" y="3483864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74720"/>
            <a:ext cx="345186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Read expected record_count from </a:t>
            </a:r>
            <a:endParaRPr sz="18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JSON.</a:t>
            </a:r>
            <a:endParaRPr sz="1800"/>
          </a:p>
        </p:txBody>
      </p:sp>
      <p:sp>
        <p:nvSpPr>
          <p:cNvPr id="13" name="Oval 12"/>
          <p:cNvSpPr/>
          <p:nvPr/>
        </p:nvSpPr>
        <p:spPr>
          <a:xfrm>
            <a:off x="804671" y="4325112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315968"/>
            <a:ext cx="30784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Compare expected count with </a:t>
            </a:r>
            <a:endParaRPr sz="18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DataFrame length.</a:t>
            </a:r>
            <a:endParaRPr sz="1800"/>
          </a:p>
        </p:txBody>
      </p:sp>
      <p:sp>
        <p:nvSpPr>
          <p:cNvPr id="15" name="Oval 14"/>
          <p:cNvSpPr/>
          <p:nvPr/>
        </p:nvSpPr>
        <p:spPr>
          <a:xfrm>
            <a:off x="804671" y="5166360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5157216"/>
            <a:ext cx="24180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Confirm the API period.</a:t>
            </a:r>
            <a:endParaRPr sz="1800"/>
          </a:p>
        </p:txBody>
      </p:sp>
      <p:sp>
        <p:nvSpPr>
          <p:cNvPr id="17" name="Rounded Rectangle 16"/>
          <p:cNvSpPr/>
          <p:nvPr/>
        </p:nvSpPr>
        <p:spPr>
          <a:xfrm>
            <a:off x="5651500" y="1188720"/>
            <a:ext cx="5824220" cy="4206240"/>
          </a:xfrm>
          <a:prstGeom prst="roundRect">
            <a:avLst/>
          </a:prstGeom>
          <a:solidFill>
            <a:srgbClr val="FAFBF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4265" y="1510030"/>
            <a:ext cx="475932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2000" u="sng"/>
              <a:t>Text output — clean JSON verification</a:t>
            </a:r>
            <a:endParaRPr sz="2000" u="sng"/>
          </a:p>
        </p:txBody>
      </p:sp>
      <p:sp>
        <p:nvSpPr>
          <p:cNvPr id="19" name="TextBox 18"/>
          <p:cNvSpPr txBox="1"/>
          <p:nvPr/>
        </p:nvSpPr>
        <p:spPr>
          <a:xfrm>
            <a:off x="6184265" y="2160270"/>
            <a:ext cx="5092065" cy="2800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>
                <a:solidFill>
                  <a:srgbClr val="2D2D2D"/>
                </a:solidFill>
                <a:latin typeface="Consolas" panose="020B0609020204030204"/>
              </a:defRPr>
            </a:pPr>
            <a:r>
              <a:rPr sz="2000"/>
              <a:t>Expected record count: 4291</a:t>
            </a:r>
            <a:br>
              <a:rPr sz="2000"/>
            </a:br>
            <a:r>
              <a:rPr sz="2000"/>
              <a:t>Actual record count: 4291</a:t>
            </a:r>
            <a:br>
              <a:rPr sz="2000"/>
            </a:br>
            <a:r>
              <a:rPr sz="2000"/>
              <a:t>Record count matches: True</a:t>
            </a:r>
            <a:br>
              <a:rPr sz="2000"/>
            </a:br>
            <a:br>
              <a:rPr sz="2000"/>
            </a:br>
            <a:r>
              <a:rPr sz="2000"/>
              <a:t>Period From: 2026-06-24</a:t>
            </a:r>
            <a:br>
              <a:rPr sz="2000"/>
            </a:br>
            <a:r>
              <a:rPr sz="2000"/>
              <a:t>Period To:   2026-06-30</a:t>
            </a:r>
            <a:br>
              <a:rPr sz="2000"/>
            </a:br>
            <a:br>
              <a:rPr sz="2000"/>
            </a:br>
            <a:r>
              <a:rPr sz="2000"/>
              <a:t>DataFrame created successfully.</a:t>
            </a:r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5287645" y="5544312"/>
            <a:ext cx="633349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8000"/>
                </a:solidFill>
              </a:defRPr>
            </a:pPr>
            <a:r>
              <a:rPr sz="2000" u="sng"/>
              <a:t>Outcome</a:t>
            </a:r>
            <a:r>
              <a:rPr sz="2000"/>
              <a:t>: </a:t>
            </a:r>
            <a:r>
              <a:rPr lang="en-US" sz="2000"/>
              <a:t>I</a:t>
            </a:r>
            <a:r>
              <a:rPr sz="2000"/>
              <a:t>ngestion and metadata validation passed for all</a:t>
            </a:r>
            <a:endParaRPr sz="2000"/>
          </a:p>
          <a:p>
            <a:pPr marL="457200" lvl="1" indent="457200">
              <a:defRPr sz="1400" b="1">
                <a:solidFill>
                  <a:srgbClr val="008000"/>
                </a:solidFill>
              </a:defRPr>
            </a:pPr>
            <a:r>
              <a:rPr sz="2000"/>
              <a:t> 4,291 weekly records.</a:t>
            </a:r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5.9 — Validate Corrupt API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783399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rPr sz="1800" b="1" u="sng"/>
              <a:t>Question</a:t>
            </a:r>
            <a:r>
              <a:rPr sz="1800"/>
              <a:t>: What should the pipeline do when critical data quality issues are found?</a:t>
            </a:r>
            <a:endParaRPr sz="1800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4455795" cy="5120640"/>
          </a:xfrm>
          <a:prstGeom prst="roundRect">
            <a:avLst/>
          </a:prstGeom>
          <a:solidFill>
            <a:srgbClr val="F7F9FB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68956" y="1344168"/>
            <a:ext cx="163449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2000" u="sng"/>
              <a:t>Steps to solve</a:t>
            </a:r>
            <a:endParaRPr sz="2000" u="sng"/>
          </a:p>
        </p:txBody>
      </p:sp>
      <p:sp>
        <p:nvSpPr>
          <p:cNvPr id="7" name="Oval 6"/>
          <p:cNvSpPr/>
          <p:nvPr/>
        </p:nvSpPr>
        <p:spPr>
          <a:xfrm>
            <a:off x="804671" y="1801368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792224"/>
            <a:ext cx="31165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Load the corrupt JSON records.</a:t>
            </a:r>
            <a:endParaRPr sz="1800"/>
          </a:p>
        </p:txBody>
      </p:sp>
      <p:sp>
        <p:nvSpPr>
          <p:cNvPr id="9" name="Oval 8"/>
          <p:cNvSpPr/>
          <p:nvPr/>
        </p:nvSpPr>
        <p:spPr>
          <a:xfrm>
            <a:off x="804671" y="2642616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633472"/>
            <a:ext cx="21945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Check for null values.</a:t>
            </a:r>
            <a:endParaRPr sz="1800"/>
          </a:p>
        </p:txBody>
      </p:sp>
      <p:sp>
        <p:nvSpPr>
          <p:cNvPr id="11" name="Oval 10"/>
          <p:cNvSpPr/>
          <p:nvPr/>
        </p:nvSpPr>
        <p:spPr>
          <a:xfrm>
            <a:off x="804671" y="3483864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74720"/>
            <a:ext cx="28155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Check for negative revenue.</a:t>
            </a:r>
            <a:endParaRPr sz="1800"/>
          </a:p>
        </p:txBody>
      </p:sp>
      <p:sp>
        <p:nvSpPr>
          <p:cNvPr id="13" name="Oval 12"/>
          <p:cNvSpPr/>
          <p:nvPr/>
        </p:nvSpPr>
        <p:spPr>
          <a:xfrm>
            <a:off x="804671" y="4325112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315968"/>
            <a:ext cx="354393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Check store IDs against valid stores.</a:t>
            </a:r>
            <a:endParaRPr sz="1800"/>
          </a:p>
        </p:txBody>
      </p:sp>
      <p:sp>
        <p:nvSpPr>
          <p:cNvPr id="15" name="Oval 14"/>
          <p:cNvSpPr/>
          <p:nvPr/>
        </p:nvSpPr>
        <p:spPr>
          <a:xfrm>
            <a:off x="804671" y="5166360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5157216"/>
            <a:ext cx="233870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Log every issue clearly.</a:t>
            </a:r>
            <a:endParaRPr sz="1800"/>
          </a:p>
        </p:txBody>
      </p:sp>
      <p:sp>
        <p:nvSpPr>
          <p:cNvPr id="17" name="Oval 16"/>
          <p:cNvSpPr/>
          <p:nvPr/>
        </p:nvSpPr>
        <p:spPr>
          <a:xfrm>
            <a:off x="804671" y="5784723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9182" y="5710174"/>
            <a:ext cx="311404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Stop the pipeline when critical </a:t>
            </a:r>
            <a:endParaRPr sz="18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issues exist.</a:t>
            </a:r>
            <a:endParaRPr sz="1800"/>
          </a:p>
        </p:txBody>
      </p:sp>
      <p:sp>
        <p:nvSpPr>
          <p:cNvPr id="19" name="Rounded Rectangle 18"/>
          <p:cNvSpPr/>
          <p:nvPr/>
        </p:nvSpPr>
        <p:spPr>
          <a:xfrm>
            <a:off x="5826760" y="1342390"/>
            <a:ext cx="5695950" cy="4892040"/>
          </a:xfrm>
          <a:prstGeom prst="roundRect">
            <a:avLst/>
          </a:prstGeom>
          <a:solidFill>
            <a:srgbClr val="FAFBF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7850" y="1433195"/>
            <a:ext cx="349377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1800" u="sng"/>
              <a:t>Text output — validation function</a:t>
            </a:r>
            <a:endParaRPr sz="1800" u="sng"/>
          </a:p>
        </p:txBody>
      </p:sp>
      <p:sp>
        <p:nvSpPr>
          <p:cNvPr id="21" name="TextBox 20"/>
          <p:cNvSpPr txBox="1"/>
          <p:nvPr/>
        </p:nvSpPr>
        <p:spPr>
          <a:xfrm>
            <a:off x="6368415" y="2107565"/>
            <a:ext cx="5198745" cy="3815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Consolas" panose="020B0609020204030204"/>
              </a:defRPr>
            </a:pPr>
            <a:r>
              <a:rPr sz="1600" b="1"/>
              <a:t>Validation Summary</a:t>
            </a:r>
            <a:br>
              <a:rPr sz="1600" b="1"/>
            </a:br>
            <a:r>
              <a:rPr sz="1600" b="1"/>
              <a:t>------------------</a:t>
            </a:r>
            <a:br>
              <a:rPr sz="1600"/>
            </a:br>
            <a:r>
              <a:rPr sz="1600"/>
              <a:t>Total records checked: 4291</a:t>
            </a:r>
            <a:br>
              <a:rPr sz="1600"/>
            </a:br>
            <a:br>
              <a:rPr sz="1600"/>
            </a:br>
            <a:r>
              <a:rPr sz="1800" b="1"/>
              <a:t>Null values found</a:t>
            </a:r>
            <a:r>
              <a:rPr sz="1600"/>
              <a:t>: 1</a:t>
            </a:r>
            <a:br>
              <a:rPr sz="1600"/>
            </a:br>
            <a:r>
              <a:rPr sz="1600"/>
              <a:t>• row 12 → units_sold</a:t>
            </a:r>
            <a:br>
              <a:rPr sz="1600"/>
            </a:br>
            <a:br>
              <a:rPr sz="1600"/>
            </a:br>
            <a:r>
              <a:rPr sz="1600" b="1"/>
              <a:t>Negative revenue found</a:t>
            </a:r>
            <a:r>
              <a:rPr sz="1600"/>
              <a:t>: 1</a:t>
            </a:r>
            <a:br>
              <a:rPr sz="1600"/>
            </a:br>
            <a:r>
              <a:rPr sz="1600"/>
              <a:t>• row 5 → revenue = -150.0</a:t>
            </a:r>
            <a:br>
              <a:rPr sz="1600"/>
            </a:br>
            <a:br>
              <a:rPr sz="1600"/>
            </a:br>
            <a:r>
              <a:rPr sz="1600" b="1"/>
              <a:t>Invalid store IDs found</a:t>
            </a:r>
            <a:r>
              <a:rPr sz="1600"/>
              <a:t>: 1</a:t>
            </a:r>
            <a:br>
              <a:rPr sz="1600"/>
            </a:br>
            <a:r>
              <a:rPr sz="1600"/>
              <a:t>• row 20 → store_id = S99</a:t>
            </a:r>
            <a:br>
              <a:rPr sz="1600"/>
            </a:br>
            <a:br>
              <a:rPr sz="1600" b="1"/>
            </a:br>
            <a:r>
              <a:rPr sz="1600" b="1" u="sng"/>
              <a:t>Status</a:t>
            </a:r>
            <a:r>
              <a:rPr sz="1600"/>
              <a:t>: FAILED — 3 issues detected.</a:t>
            </a:r>
            <a:br>
              <a:rPr sz="1600"/>
            </a:br>
            <a:r>
              <a:rPr sz="1600"/>
              <a:t>Pipeline halted.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5.10 — Transform &amp; Aggregate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9930"/>
            <a:ext cx="104838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96969"/>
                </a:solidFill>
              </a:defRPr>
            </a:pPr>
            <a:r>
              <a:rPr sz="1800" b="1" u="sng"/>
              <a:t>Question</a:t>
            </a:r>
            <a:r>
              <a:rPr sz="1800"/>
              <a:t>: </a:t>
            </a:r>
            <a:r>
              <a:rPr lang="en-US" altLang="en-GB" sz="1800"/>
              <a:t>Any category where this week's revenue is more than 20% below its 6-month daily average ?</a:t>
            </a:r>
            <a:endParaRPr lang="en-US" altLang="en-GB" sz="1800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703955" cy="5240020"/>
          </a:xfrm>
          <a:prstGeom prst="roundRect">
            <a:avLst/>
          </a:prstGeom>
          <a:solidFill>
            <a:srgbClr val="F7F9FB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5431" y="1344168"/>
            <a:ext cx="1488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1800" u="sng"/>
              <a:t>Steps to solve</a:t>
            </a:r>
            <a:endParaRPr sz="1800" u="sng"/>
          </a:p>
        </p:txBody>
      </p:sp>
      <p:sp>
        <p:nvSpPr>
          <p:cNvPr id="7" name="Oval 6"/>
          <p:cNvSpPr/>
          <p:nvPr/>
        </p:nvSpPr>
        <p:spPr>
          <a:xfrm>
            <a:off x="804671" y="1801368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1077" y="1740789"/>
            <a:ext cx="309372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Calculate total weekly revenue</a:t>
            </a:r>
            <a:endParaRPr sz="18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lang="en-US" sz="1800"/>
              <a:t> </a:t>
            </a:r>
            <a:r>
              <a:rPr sz="1800"/>
              <a:t>by store.</a:t>
            </a:r>
            <a:endParaRPr sz="1800"/>
          </a:p>
        </p:txBody>
      </p:sp>
      <p:sp>
        <p:nvSpPr>
          <p:cNvPr id="9" name="Oval 8"/>
          <p:cNvSpPr/>
          <p:nvPr/>
        </p:nvSpPr>
        <p:spPr>
          <a:xfrm>
            <a:off x="804671" y="2642616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745" y="2644140"/>
            <a:ext cx="2441575" cy="5562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Calculate total weekly revenue</a:t>
            </a:r>
            <a:endParaRPr sz="18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lang="en-US" sz="1800"/>
              <a:t> </a:t>
            </a:r>
            <a:r>
              <a:rPr sz="1800"/>
              <a:t>by category.</a:t>
            </a:r>
            <a:endParaRPr sz="1800"/>
          </a:p>
        </p:txBody>
      </p:sp>
      <p:sp>
        <p:nvSpPr>
          <p:cNvPr id="11" name="Oval 10"/>
          <p:cNvSpPr/>
          <p:nvPr/>
        </p:nvSpPr>
        <p:spPr>
          <a:xfrm>
            <a:off x="804671" y="3483864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74720"/>
            <a:ext cx="258127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</a:defRPr>
            </a:pPr>
            <a:r>
              <a:rPr lang="en-US" altLang="en-GB" sz="1800"/>
              <a:t>Highest-revenue store — </a:t>
            </a:r>
            <a:endParaRPr lang="en-US" altLang="en-GB" sz="1800"/>
          </a:p>
          <a:p>
            <a:pPr algn="l">
              <a:defRPr sz="1300" b="1">
                <a:solidFill>
                  <a:srgbClr val="2D2D2D"/>
                </a:solidFill>
              </a:defRPr>
            </a:pPr>
            <a:r>
              <a:rPr lang="en-US" altLang="en-GB" sz="1800"/>
              <a:t>top_store_this_week </a:t>
            </a:r>
            <a:r>
              <a:rPr sz="1800"/>
              <a:t>.</a:t>
            </a:r>
            <a:endParaRPr sz="1800"/>
          </a:p>
        </p:txBody>
      </p:sp>
      <p:sp>
        <p:nvSpPr>
          <p:cNvPr id="13" name="Oval 12"/>
          <p:cNvSpPr/>
          <p:nvPr/>
        </p:nvSpPr>
        <p:spPr>
          <a:xfrm>
            <a:off x="804671" y="4325112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315968"/>
            <a:ext cx="316674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Calculate current daily category</a:t>
            </a:r>
            <a:endParaRPr sz="18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 revenue.</a:t>
            </a:r>
            <a:endParaRPr sz="1800"/>
          </a:p>
        </p:txBody>
      </p:sp>
      <p:sp>
        <p:nvSpPr>
          <p:cNvPr id="15" name="Oval 14"/>
          <p:cNvSpPr/>
          <p:nvPr/>
        </p:nvSpPr>
        <p:spPr>
          <a:xfrm>
            <a:off x="804671" y="5166360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5157216"/>
            <a:ext cx="264287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Compare with 6-month daily </a:t>
            </a:r>
            <a:endParaRPr sz="16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600"/>
              <a:t>baseline.</a:t>
            </a:r>
            <a:endParaRPr sz="1600"/>
          </a:p>
        </p:txBody>
      </p:sp>
      <p:sp>
        <p:nvSpPr>
          <p:cNvPr id="17" name="Oval 16"/>
          <p:cNvSpPr/>
          <p:nvPr/>
        </p:nvSpPr>
        <p:spPr>
          <a:xfrm>
            <a:off x="804671" y="5785358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4107" y="5785739"/>
            <a:ext cx="267906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Flag categories more than </a:t>
            </a:r>
            <a:endParaRPr sz="18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20% below baseline.</a:t>
            </a:r>
            <a:endParaRPr sz="1800"/>
          </a:p>
        </p:txBody>
      </p:sp>
      <p:sp>
        <p:nvSpPr>
          <p:cNvPr id="19" name="Rounded Rectangle 18"/>
          <p:cNvSpPr/>
          <p:nvPr/>
        </p:nvSpPr>
        <p:spPr>
          <a:xfrm>
            <a:off x="4595495" y="1214628"/>
            <a:ext cx="3520440" cy="4526280"/>
          </a:xfrm>
          <a:prstGeom prst="roundRect">
            <a:avLst/>
          </a:prstGeom>
          <a:solidFill>
            <a:srgbClr val="FAFBF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4687" y="1273555"/>
            <a:ext cx="300418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1800" u="sng"/>
              <a:t>Text output — store summary</a:t>
            </a:r>
            <a:endParaRPr sz="1800" u="sng"/>
          </a:p>
        </p:txBody>
      </p:sp>
      <p:sp>
        <p:nvSpPr>
          <p:cNvPr id="21" name="TextBox 20"/>
          <p:cNvSpPr txBox="1"/>
          <p:nvPr/>
        </p:nvSpPr>
        <p:spPr>
          <a:xfrm>
            <a:off x="4782185" y="1837690"/>
            <a:ext cx="2956560" cy="28524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>
                <a:solidFill>
                  <a:srgbClr val="2D2D2D"/>
                </a:solidFill>
                <a:latin typeface="Consolas" panose="020B0609020204030204"/>
              </a:defRPr>
            </a:pPr>
            <a:r>
              <a:rPr sz="2000" b="1" u="sng"/>
              <a:t>Top store</a:t>
            </a:r>
            <a:r>
              <a:rPr sz="2000"/>
              <a:t>:</a:t>
            </a:r>
            <a:br>
              <a:rPr sz="2000"/>
            </a:br>
            <a:r>
              <a:rPr sz="2000"/>
              <a:t>S03 — Guntur</a:t>
            </a:r>
            <a:br>
              <a:rPr sz="2000"/>
            </a:br>
            <a:r>
              <a:rPr sz="2000"/>
              <a:t>₹20,37,560.19</a:t>
            </a:r>
            <a:br>
              <a:rPr sz="2000"/>
            </a:br>
            <a:br>
              <a:rPr sz="2000"/>
            </a:br>
            <a:r>
              <a:rPr sz="2000" b="1" u="sng"/>
              <a:t>Bottom store</a:t>
            </a:r>
            <a:r>
              <a:rPr sz="2000"/>
              <a:t>:</a:t>
            </a:r>
            <a:br>
              <a:rPr sz="2000"/>
            </a:br>
            <a:r>
              <a:rPr sz="2000"/>
              <a:t>S10 — Nellore</a:t>
            </a:r>
            <a:br>
              <a:rPr sz="2000"/>
            </a:br>
            <a:r>
              <a:rPr sz="2000"/>
              <a:t>₹6,27,119.87</a:t>
            </a:r>
            <a:br>
              <a:rPr sz="2000"/>
            </a:br>
            <a:br>
              <a:rPr sz="2000"/>
            </a:br>
            <a:r>
              <a:rPr sz="2000" b="1" u="sng"/>
              <a:t>Top category</a:t>
            </a:r>
            <a:r>
              <a:rPr sz="2000"/>
              <a:t>:</a:t>
            </a:r>
            <a:br>
              <a:rPr sz="2000"/>
            </a:br>
            <a:r>
              <a:rPr sz="2000"/>
              <a:t>Electronics</a:t>
            </a:r>
            <a:br>
              <a:rPr sz="2000"/>
            </a:br>
            <a:r>
              <a:rPr sz="2000"/>
              <a:t>₹57,64,693.85</a:t>
            </a:r>
            <a:endParaRPr sz="2000"/>
          </a:p>
        </p:txBody>
      </p:sp>
      <p:sp>
        <p:nvSpPr>
          <p:cNvPr id="22" name="Rounded Rectangle 21"/>
          <p:cNvSpPr/>
          <p:nvPr/>
        </p:nvSpPr>
        <p:spPr>
          <a:xfrm>
            <a:off x="8282305" y="1078738"/>
            <a:ext cx="3566160" cy="4526280"/>
          </a:xfrm>
          <a:prstGeom prst="roundRect">
            <a:avLst/>
          </a:prstGeom>
          <a:solidFill>
            <a:srgbClr val="FAFBF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91855" y="1254125"/>
            <a:ext cx="335661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1800" u="sng"/>
              <a:t>Text output — category summary</a:t>
            </a:r>
            <a:endParaRPr sz="1800" u="sng"/>
          </a:p>
        </p:txBody>
      </p:sp>
      <p:sp>
        <p:nvSpPr>
          <p:cNvPr id="24" name="TextBox 23"/>
          <p:cNvSpPr txBox="1"/>
          <p:nvPr/>
        </p:nvSpPr>
        <p:spPr>
          <a:xfrm>
            <a:off x="8465185" y="2185035"/>
            <a:ext cx="3200400" cy="22136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00">
                <a:solidFill>
                  <a:srgbClr val="2D2D2D"/>
                </a:solidFill>
                <a:latin typeface="Consolas" panose="020B0609020204030204"/>
              </a:defRPr>
            </a:pPr>
            <a:r>
              <a:rPr sz="1600" b="1" u="sng"/>
              <a:t>Weekly category revenue</a:t>
            </a:r>
            <a:br>
              <a:rPr sz="1400"/>
            </a:br>
            <a:br>
              <a:rPr sz="1400"/>
            </a:br>
            <a:r>
              <a:rPr sz="1400"/>
              <a:t>Electronics      ₹57,64,693.85</a:t>
            </a:r>
            <a:br>
              <a:rPr sz="1400"/>
            </a:br>
            <a:r>
              <a:rPr sz="1400"/>
              <a:t>Apparel          ₹32,28,573.10</a:t>
            </a:r>
            <a:br>
              <a:rPr sz="1400"/>
            </a:br>
            <a:r>
              <a:rPr sz="1400"/>
              <a:t>Home &amp; Kitchen   ₹28,47,057.00</a:t>
            </a:r>
            <a:br>
              <a:rPr sz="1400"/>
            </a:br>
            <a:r>
              <a:rPr sz="1400"/>
              <a:t>Grocery          ₹16,17,278.70</a:t>
            </a:r>
            <a:br>
              <a:rPr sz="1400"/>
            </a:br>
            <a:r>
              <a:rPr sz="1400"/>
              <a:t>Personal Care    ₹15,57,807.63</a:t>
            </a:r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5.10 — Historical Baseline &amp; Category 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607123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rPr sz="1800"/>
              <a:t>Current weekly signal compared with the 6-month CSV baseline</a:t>
            </a:r>
            <a:endParaRPr sz="1800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6492240" cy="4297680"/>
          </a:xfrm>
          <a:prstGeom prst="roundRect">
            <a:avLst/>
          </a:prstGeom>
          <a:solidFill>
            <a:srgbClr val="FAFBF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22830" y="1344295"/>
            <a:ext cx="368236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1800" u="sng"/>
              <a:t>Text output — category comparison</a:t>
            </a:r>
            <a:endParaRPr sz="1800" u="sng"/>
          </a:p>
        </p:txBody>
      </p:sp>
      <p:sp>
        <p:nvSpPr>
          <p:cNvPr id="7" name="TextBox 6"/>
          <p:cNvSpPr txBox="1"/>
          <p:nvPr/>
        </p:nvSpPr>
        <p:spPr>
          <a:xfrm>
            <a:off x="914400" y="1931035"/>
            <a:ext cx="6126479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Consolas" panose="020B0609020204030204"/>
              </a:defRPr>
            </a:pPr>
            <a:r>
              <a:rPr sz="1800"/>
              <a:t>Category            Change vs baseline</a:t>
            </a:r>
            <a:br>
              <a:rPr sz="1800"/>
            </a:br>
            <a:r>
              <a:rPr sz="1800"/>
              <a:t>------------------------------------------</a:t>
            </a:r>
            <a:br>
              <a:rPr sz="1800"/>
            </a:br>
            <a:r>
              <a:rPr sz="1800"/>
              <a:t>Apparel              +20.2%</a:t>
            </a:r>
            <a:br>
              <a:rPr sz="1800"/>
            </a:br>
            <a:r>
              <a:rPr sz="1800"/>
              <a:t>Electronics          -34.2%   ← ALERT</a:t>
            </a:r>
            <a:br>
              <a:rPr sz="1800"/>
            </a:br>
            <a:r>
              <a:rPr sz="1800"/>
              <a:t>Grocery               -1.1%</a:t>
            </a:r>
            <a:br>
              <a:rPr sz="1800"/>
            </a:br>
            <a:r>
              <a:rPr sz="1800"/>
              <a:t>Home &amp; Kitchen       -10.1%</a:t>
            </a:r>
            <a:br>
              <a:rPr sz="1800"/>
            </a:br>
            <a:r>
              <a:rPr sz="1800"/>
              <a:t>Personal Care         +1.6%</a:t>
            </a:r>
            <a:br>
              <a:rPr sz="1800"/>
            </a:br>
            <a:br>
              <a:rPr sz="1800"/>
            </a:br>
            <a:r>
              <a:rPr sz="1800" b="1" u="sng"/>
              <a:t>Alert rule</a:t>
            </a:r>
            <a:r>
              <a:rPr sz="1800"/>
              <a:t>:</a:t>
            </a:r>
            <a:br>
              <a:rPr sz="1800"/>
            </a:br>
            <a:r>
              <a:rPr sz="1800"/>
              <a:t>Current weekly daily average &lt; 80%</a:t>
            </a:r>
            <a:br>
              <a:rPr sz="1800"/>
            </a:br>
            <a:r>
              <a:rPr sz="1800"/>
              <a:t>of the historical 6-month daily average.</a:t>
            </a:r>
            <a:endParaRPr sz="1800"/>
          </a:p>
        </p:txBody>
      </p:sp>
      <p:sp>
        <p:nvSpPr>
          <p:cNvPr id="8" name="Rounded Rectangle 7"/>
          <p:cNvSpPr/>
          <p:nvPr/>
        </p:nvSpPr>
        <p:spPr>
          <a:xfrm>
            <a:off x="7635240" y="1234440"/>
            <a:ext cx="3794760" cy="4297680"/>
          </a:xfrm>
          <a:prstGeom prst="roundRect">
            <a:avLst/>
          </a:prstGeom>
          <a:solidFill>
            <a:srgbClr val="E8F0F8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3921" y="1407668"/>
            <a:ext cx="151828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304A"/>
                </a:solidFill>
              </a:defRPr>
            </a:pPr>
            <a:r>
              <a:rPr sz="1800" u="sng"/>
              <a:t>Interpretation</a:t>
            </a:r>
            <a:endParaRPr sz="1800" u="sng"/>
          </a:p>
        </p:txBody>
      </p:sp>
      <p:sp>
        <p:nvSpPr>
          <p:cNvPr id="10" name="TextBox 9"/>
          <p:cNvSpPr txBox="1"/>
          <p:nvPr/>
        </p:nvSpPr>
        <p:spPr>
          <a:xfrm>
            <a:off x="7909560" y="1874519"/>
            <a:ext cx="3246120" cy="2891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rPr sz="1800"/>
              <a:t>• Electronics is the only category below the −20% threshold.</a:t>
            </a:r>
            <a:endParaRPr sz="1800"/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rPr sz="1800"/>
              <a:t>• Its current daily average is approximately ₹8.24 lakh.</a:t>
            </a:r>
            <a:endParaRPr sz="1800"/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rPr sz="1800"/>
              <a:t>• Historical daily average is approximately ₹12.52 lakh.</a:t>
            </a:r>
            <a:endParaRPr sz="1800"/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rPr sz="1800"/>
              <a:t>• The alert connects Part 1 historical analysis with Part 2 live monitoring.</a:t>
            </a:r>
            <a:endParaRPr sz="1800"/>
          </a:p>
        </p:txBody>
      </p:sp>
      <p:sp>
        <p:nvSpPr>
          <p:cNvPr id="11" name="TextBox 10"/>
          <p:cNvSpPr txBox="1"/>
          <p:nvPr/>
        </p:nvSpPr>
        <p:spPr>
          <a:xfrm>
            <a:off x="868680" y="5873115"/>
            <a:ext cx="938847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0000"/>
                </a:solidFill>
              </a:defRPr>
            </a:pPr>
            <a:r>
              <a:rPr sz="1800" u="sng"/>
              <a:t>Outcome</a:t>
            </a:r>
            <a:r>
              <a:rPr sz="1800"/>
              <a:t>: Electronics requires immediate investigation based on the defined 20% alert threshold.</a:t>
            </a:r>
            <a:endParaRPr sz="1800"/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5.11 — generate_weekly_summary()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682244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rPr sz="1600" u="sng"/>
              <a:t>Question</a:t>
            </a:r>
            <a:r>
              <a:rPr sz="1600"/>
              <a:t>: Can the pipeline produce the weekly Operations report automatically?</a:t>
            </a:r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4665345" cy="5120640"/>
          </a:xfrm>
          <a:prstGeom prst="roundRect">
            <a:avLst/>
          </a:prstGeom>
          <a:solidFill>
            <a:srgbClr val="F7F9FB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15006" y="1344168"/>
            <a:ext cx="1488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1800" u="sng"/>
              <a:t>Steps to solve</a:t>
            </a:r>
            <a:endParaRPr sz="1800" u="sng"/>
          </a:p>
        </p:txBody>
      </p:sp>
      <p:sp>
        <p:nvSpPr>
          <p:cNvPr id="7" name="Oval 6"/>
          <p:cNvSpPr/>
          <p:nvPr/>
        </p:nvSpPr>
        <p:spPr>
          <a:xfrm>
            <a:off x="804671" y="1801368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792224"/>
            <a:ext cx="368617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Define generate_weekly_summary().</a:t>
            </a:r>
            <a:endParaRPr sz="1800"/>
          </a:p>
        </p:txBody>
      </p:sp>
      <p:sp>
        <p:nvSpPr>
          <p:cNvPr id="9" name="Oval 8"/>
          <p:cNvSpPr/>
          <p:nvPr/>
        </p:nvSpPr>
        <p:spPr>
          <a:xfrm>
            <a:off x="804671" y="2642616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633472"/>
            <a:ext cx="38938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Load and process the clean JSON input.</a:t>
            </a:r>
            <a:endParaRPr sz="1800"/>
          </a:p>
        </p:txBody>
      </p:sp>
      <p:sp>
        <p:nvSpPr>
          <p:cNvPr id="11" name="Oval 10"/>
          <p:cNvSpPr/>
          <p:nvPr/>
        </p:nvSpPr>
        <p:spPr>
          <a:xfrm>
            <a:off x="804671" y="3483864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74720"/>
            <a:ext cx="327723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Calculate top and bottom stores.</a:t>
            </a:r>
            <a:endParaRPr sz="1800"/>
          </a:p>
        </p:txBody>
      </p:sp>
      <p:sp>
        <p:nvSpPr>
          <p:cNvPr id="13" name="Oval 12"/>
          <p:cNvSpPr/>
          <p:nvPr/>
        </p:nvSpPr>
        <p:spPr>
          <a:xfrm>
            <a:off x="804671" y="4325112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315968"/>
            <a:ext cx="405765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Calculate category alert against historical</a:t>
            </a:r>
            <a:endParaRPr sz="1800"/>
          </a:p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 baseline.</a:t>
            </a:r>
            <a:endParaRPr sz="1800"/>
          </a:p>
        </p:txBody>
      </p:sp>
      <p:sp>
        <p:nvSpPr>
          <p:cNvPr id="15" name="Oval 14"/>
          <p:cNvSpPr/>
          <p:nvPr/>
        </p:nvSpPr>
        <p:spPr>
          <a:xfrm>
            <a:off x="804671" y="5166360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5157216"/>
            <a:ext cx="362204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2000"/>
              <a:t>Print a structured weekly report.</a:t>
            </a:r>
            <a:endParaRPr sz="2000"/>
          </a:p>
        </p:txBody>
      </p:sp>
      <p:sp>
        <p:nvSpPr>
          <p:cNvPr id="17" name="Oval 16"/>
          <p:cNvSpPr/>
          <p:nvPr/>
        </p:nvSpPr>
        <p:spPr>
          <a:xfrm>
            <a:off x="985646" y="5897753"/>
            <a:ext cx="347472" cy="347472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4912" y="5877179"/>
            <a:ext cx="349313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2D2D"/>
                </a:solidFill>
              </a:defRPr>
            </a:pPr>
            <a:r>
              <a:rPr sz="1800"/>
              <a:t>Return a successful pipeline status.</a:t>
            </a:r>
            <a:endParaRPr sz="1800"/>
          </a:p>
        </p:txBody>
      </p:sp>
      <p:sp>
        <p:nvSpPr>
          <p:cNvPr id="19" name="Rounded Rectangle 18"/>
          <p:cNvSpPr/>
          <p:nvPr/>
        </p:nvSpPr>
        <p:spPr>
          <a:xfrm>
            <a:off x="5862955" y="1235075"/>
            <a:ext cx="5612765" cy="5010150"/>
          </a:xfrm>
          <a:prstGeom prst="roundRect">
            <a:avLst/>
          </a:prstGeom>
          <a:solidFill>
            <a:srgbClr val="FAFBF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1475" y="1344295"/>
            <a:ext cx="41605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304A"/>
                </a:solidFill>
              </a:defRPr>
            </a:pPr>
            <a:r>
              <a:rPr sz="1800" u="sng"/>
              <a:t>Text output — final automated</a:t>
            </a:r>
            <a:r>
              <a:rPr lang="en-US" sz="1800" u="sng"/>
              <a:t> </a:t>
            </a:r>
            <a:r>
              <a:rPr sz="1800" u="sng"/>
              <a:t>summary</a:t>
            </a:r>
            <a:endParaRPr sz="1800" u="sng"/>
          </a:p>
        </p:txBody>
      </p:sp>
      <p:sp>
        <p:nvSpPr>
          <p:cNvPr id="21" name="TextBox 20"/>
          <p:cNvSpPr txBox="1"/>
          <p:nvPr/>
        </p:nvSpPr>
        <p:spPr>
          <a:xfrm>
            <a:off x="6232525" y="2159635"/>
            <a:ext cx="4873625" cy="3571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00">
                <a:solidFill>
                  <a:srgbClr val="2D2D2D"/>
                </a:solidFill>
                <a:latin typeface="Consolas" panose="020B0609020204030204"/>
              </a:defRPr>
            </a:pPr>
            <a:r>
              <a:rPr sz="1400" b="1"/>
              <a:t>=== RETAIL SALES PULSE — WEEKLY SUMMARY ===</a:t>
            </a:r>
            <a:br>
              <a:rPr sz="1400"/>
            </a:br>
            <a:br>
              <a:rPr sz="1400"/>
            </a:br>
            <a:r>
              <a:rPr sz="1400" b="1" u="sng"/>
              <a:t>Period</a:t>
            </a:r>
            <a:r>
              <a:rPr sz="1400"/>
              <a:t>: 2026-06-24 to 2026-06-30</a:t>
            </a:r>
            <a:br>
              <a:rPr sz="1400"/>
            </a:br>
            <a:r>
              <a:rPr sz="1400"/>
              <a:t>Records processed: 4291</a:t>
            </a:r>
            <a:br>
              <a:rPr sz="1400"/>
            </a:br>
            <a:br>
              <a:rPr sz="1400" b="1" u="sng"/>
            </a:br>
            <a:r>
              <a:rPr sz="1400" b="1" u="sng"/>
              <a:t>Top store</a:t>
            </a:r>
            <a:r>
              <a:rPr sz="1400"/>
              <a:t>: S03 — Guntur (₹20.38 lakh)</a:t>
            </a:r>
            <a:br>
              <a:rPr sz="1400"/>
            </a:br>
            <a:r>
              <a:rPr sz="1400" b="1" u="sng"/>
              <a:t>Bottom store</a:t>
            </a:r>
            <a:r>
              <a:rPr sz="1400"/>
              <a:t>: S10 — Nellore (₹6.27 lakh)</a:t>
            </a:r>
            <a:br>
              <a:rPr sz="1400"/>
            </a:br>
            <a:br>
              <a:rPr sz="1400"/>
            </a:br>
            <a:r>
              <a:rPr sz="1400" b="1" u="sng"/>
              <a:t>Category alert</a:t>
            </a:r>
            <a:r>
              <a:rPr sz="1400"/>
              <a:t>:</a:t>
            </a:r>
            <a:br>
              <a:rPr sz="1400"/>
            </a:br>
            <a:r>
              <a:rPr sz="1400"/>
              <a:t>Electronics revenue down 34.2% vs 6-month baseline</a:t>
            </a:r>
            <a:br>
              <a:rPr sz="1400"/>
            </a:br>
            <a:br>
              <a:rPr sz="1400" b="1" u="sng"/>
            </a:br>
            <a:r>
              <a:rPr sz="1400" b="1" u="sng"/>
              <a:t>No alert</a:t>
            </a:r>
            <a:r>
              <a:rPr sz="1400"/>
              <a:t>:</a:t>
            </a:r>
            <a:br>
              <a:rPr sz="1400"/>
            </a:br>
            <a:r>
              <a:rPr sz="1400"/>
              <a:t>Apparel, Grocery, Home &amp; Kitchen, Personal Care</a:t>
            </a:r>
            <a:br>
              <a:rPr sz="1400"/>
            </a:br>
            <a:br>
              <a:rPr sz="1400"/>
            </a:br>
            <a:r>
              <a:rPr sz="1400" b="1" u="sng"/>
              <a:t>Pipeline status</a:t>
            </a:r>
            <a:r>
              <a:rPr sz="1400"/>
              <a:t>: COMPLETED SUCCESSFULLY</a:t>
            </a:r>
            <a:endParaRPr sz="1400"/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68165" y="277495"/>
            <a:ext cx="3175635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rPr u="sng"/>
              <a:t>Final Business Story</a:t>
            </a:r>
            <a:endParaRPr u="sng"/>
          </a:p>
        </p:txBody>
      </p:sp>
      <p:sp>
        <p:nvSpPr>
          <p:cNvPr id="4" name="TextBox 3"/>
          <p:cNvSpPr txBox="1"/>
          <p:nvPr/>
        </p:nvSpPr>
        <p:spPr>
          <a:xfrm>
            <a:off x="731647" y="684022"/>
            <a:ext cx="536638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rPr sz="1600"/>
              <a:t>From historical exploration to an automated weekly sales pulse</a:t>
            </a:r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828800" cy="658368"/>
          </a:xfrm>
          <a:prstGeom prst="roundRect">
            <a:avLst/>
          </a:prstGeom>
          <a:solidFill>
            <a:srgbClr val="E8F0F8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0759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5F91"/>
                </a:solidFill>
              </a:defRPr>
            </a:pPr>
            <a: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24333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04A"/>
                </a:solidFill>
              </a:defRPr>
            </a:pPr>
            <a: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274572"/>
            <a:ext cx="705739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rPr sz="1600"/>
              <a:t>Explore six months of sales and identify store, category, time and anomaly patterns.</a:t>
            </a:r>
            <a:endParaRPr sz="1600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1828800" cy="658368"/>
          </a:xfrm>
          <a:prstGeom prst="roundRect">
            <a:avLst/>
          </a:prstGeom>
          <a:solidFill>
            <a:srgbClr val="E8F0F8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5F91"/>
                </a:solidFill>
              </a:defRPr>
            </a:pPr>
            <a:r>
              <a:t>KEY 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148839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04A"/>
                </a:solidFill>
              </a:defRPr>
            </a:pPr>
            <a:r>
              <a:t>Prioritize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30551"/>
            <a:ext cx="664972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rPr sz="1600"/>
              <a:t>Electronics declined ~₹1.60 Cr from January to June and requires investigation.</a:t>
            </a:r>
            <a:endParaRPr sz="1600"/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1828800" cy="658368"/>
          </a:xfrm>
          <a:prstGeom prst="roundRect">
            <a:avLst/>
          </a:prstGeom>
          <a:solidFill>
            <a:srgbClr val="E8F0F8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2783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5F91"/>
                </a:solidFill>
              </a:defRPr>
            </a:pPr>
            <a:r>
              <a:t>PART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1089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04A"/>
                </a:solidFill>
              </a:defRPr>
            </a:pPr>
            <a:r>
              <a:t>Automate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90672"/>
            <a:ext cx="565848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rPr sz="1800"/>
              <a:t>Ingest and validate the weekly JSON before transforming it.</a:t>
            </a:r>
            <a:endParaRPr sz="1800"/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1828800" cy="658368"/>
          </a:xfrm>
          <a:prstGeom prst="roundRect">
            <a:avLst/>
          </a:prstGeom>
          <a:solidFill>
            <a:srgbClr val="E8F0F8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8795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5F91"/>
                </a:solidFill>
              </a:defRPr>
            </a:pPr>
            <a:r>
              <a:t>LIVE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0690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04A"/>
                </a:solidFill>
              </a:defRPr>
            </a:pPr>
            <a:r>
              <a:t>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50792"/>
            <a:ext cx="51587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rPr sz="1800"/>
              <a:t>Electronics is 34.2% below its historical daily baseline.</a:t>
            </a:r>
            <a:endParaRPr sz="1800"/>
          </a:p>
        </p:txBody>
      </p:sp>
      <p:sp>
        <p:nvSpPr>
          <p:cNvPr id="21" name="Rounded Rectangle 20"/>
          <p:cNvSpPr/>
          <p:nvPr/>
        </p:nvSpPr>
        <p:spPr>
          <a:xfrm>
            <a:off x="731520" y="4983480"/>
            <a:ext cx="1828800" cy="658368"/>
          </a:xfrm>
          <a:prstGeom prst="roundRect">
            <a:avLst/>
          </a:prstGeom>
          <a:solidFill>
            <a:srgbClr val="E8F0F8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480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5F91"/>
                </a:solidFill>
              </a:defRPr>
            </a:pPr>
            <a:r>
              <a:t>BUSINESS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5029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04A"/>
                </a:solidFill>
              </a:defRPr>
            </a:pPr>
            <a: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10912"/>
            <a:ext cx="73736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rPr sz="1800"/>
              <a:t>Give the Operations Head a repeatable weekly signal for where to investigate.</a:t>
            </a:r>
            <a:endParaRPr sz="1800"/>
          </a:p>
        </p:txBody>
      </p:sp>
      <p:sp>
        <p:nvSpPr>
          <p:cNvPr id="25" name="TextBox 24"/>
          <p:cNvSpPr txBox="1"/>
          <p:nvPr/>
        </p:nvSpPr>
        <p:spPr>
          <a:xfrm>
            <a:off x="4709160" y="5989320"/>
            <a:ext cx="28346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C304A"/>
                </a:solidFill>
              </a:defRPr>
            </a:pPr>
            <a:r>
              <a:t>Thank You —</a:t>
            </a:r>
            <a:r>
              <a:rPr lang="en-US"/>
              <a:t> Any Queries ? </a:t>
            </a:r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ags/tag2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ags/tag3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ags/tag4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ags/tag5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ags/tag6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ags/tag7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ags/tag8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ags/tag9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ags/tag10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ags/tag11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ags/tag12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ags/tag13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ags/tag14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ags/tag15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ags/tag16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ags/tag17.xml><?xml version="1.0" encoding="utf-8"?>
<p:tagLst xmlns:p="http://schemas.openxmlformats.org/presentationml/2006/main">
  <p:tag name="KSO_WM_DIAGRAM_VIRTUALLY_FRAME" val="{&quot;height&quot;:349.5499212598425,&quot;left&quot;:54.8,&quot;top&quot;:152.51,&quot;width&quot;:883.8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9764</Words>
  <Application>WPS Presentation</Application>
  <PresentationFormat>On-screen Show (4:3)</PresentationFormat>
  <Paragraphs>503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Arial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Ramesh Valle</cp:lastModifiedBy>
  <cp:revision>18</cp:revision>
  <dcterms:created xsi:type="dcterms:W3CDTF">2013-01-27T09:14:00Z</dcterms:created>
  <dcterms:modified xsi:type="dcterms:W3CDTF">2026-09-05T11:34:22Z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3E946EE9CC7C440C8A007B6BAC3A354B_12</vt:lpwstr>
  </property>
  <property fmtid="{D5CDD505-2E9C-101B-9397-08002B2CF9AE}" pid="3" name="KSOProductBuildVer">
    <vt:lpwstr>2057-12.2.0.23206</vt:lpwstr>
  </property>
</Properties>
</file>