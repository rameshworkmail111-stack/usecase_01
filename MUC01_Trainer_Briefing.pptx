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TRAINER OPENING (30 seconds)
"Before we assign this use case, I want to walk you through what it asks you to do and why it is structured the way it is. This will take about 15 minutes. At the end, if there are questions about the files or setup, we will cover those."
Anuradha / Vignesh: Do not read the slides. Use them as visual anchors and speak naturally around them. The speaker notes on each slide give you the key points to make. Stick to those and you will be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(2 minutes)
"This is not an exercise invented for a classroom. This is what retail data teams actually deal with. The operations head in this scenario has a Q3 budget decision to make — she has data but no insight. That is the gap you are filling."
Emphasise: Part 1 is the insight. Part 2 is the infrastructure that keeps the insight current. Both are essential. Neither is more important than the other.
DO NOT skip this slide. Students who understand the business context produce better analysis than students who just execute the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(1 minute)
Read the quote aloud. Pause. Then say:
"This quote is from Mayank. It is at the top of your use case document. I want you to remember it for this specific reason — every step in this use case has a business reason behind it. When you understand that reason, the code you write gets better."
Do not over-explain. Let the three bullet points land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(2 minutes)
"Part 1 and Part 2 are not separate assignments. They are one continuous story."
Walk through the arrow: "The historical analysis you do in Part 1 becomes the baseline for the pipeline in Part 2. In Step 5.10, when you build the category alert, you need the 6-month average from the CSV — which you computed in Part 1 — to know whether this week's data is normal or not."
"If you treat Part 2 as a separate exercise with a separate dataset, you will miss the connection. That connection is the most important thing in this use case."
Flag Step 5.9 specifically: "The validation step has three deliberate data issues in the corrupt JSON file. You need to catch all three — not two, not one. All three. We will check this in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(2 minutes)
"The CBIM canvas must be completed before any code is written. This is not flexible."
"The most important field in this use case is the SSOT. There are two data sources — the historical CSV and the weekly JSON. A good answer explains how they relate: the CSV is the baseline context, the JSON is the live signal. The pipeline only makes sense if you have both."
"The most common mistake is answering the Question field as 'analyse the sales data.' That is not a question the operations head would ask. Push for specificity — something like: which stores should be deprioritised in Q3 promotional spend, and is this week's data consistent with the 6-month trend?"
Watch for students who fill in the canvas after they have already built the analysis. Check the timestamp on their submissions. The canvas is dated evidence that they framed before they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(2 minutes)
"Share all four files at the same time — ideally as a zip or via a shared folder link before this session ends."
On the corrupt JSON: "Do not tell students what the three issues are. They have to find them. The validation function they write in Step 5.9 should catch: a negative revenue value, a null units_sold, and an invalid store ID. If a student's function only catches two, it is not complete."
Setup reminder: "Students work entirely on their own laptops. Make sure they have pandas, numpy, matplotlib, seaborn, and jupyter installed. If anyone has not set up their environment yet, give them 5 minutes to run: pip install pandas numpy matplotlib seaborn jupyter"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(2 minutes)
Walk through 2–3 rows — you do not need to read every one.
The most important rows to highlight:
1. Recommendation — this is where students most commonly fail. "The company should improve" is not a recommendation. Push them to name a specific store, cite a specific number, and state a specific action.
2. Pipeline link — the category alert using the CSV baseline is the single most important technical connection in the use case. If they compute it only from the weekly data, they have missed the point of the exercise.
"When we review your submissions, these are the things we look for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(1 minute)
"Whether you are working individually or in a group, the notebook structure is the same — CBIM canvas first, then Part 1, then Part 2."
"If you are in a group: every step's markdown cell must credit who built it. And the individual reflection is not optional — each person submits it separately. It does not affect the team score, but I read them and they inform my feedback to each of you."
Confirm the deadline here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 only use this slide if you have time and a working environment ready.
Do NOT attempt a live demo if you have not run through it beforehand. A demo that breaks in front of students undermines confidence.
If you do the demo:
- Keep it to 3–4 minutes maximum
- Do not explain all the code — show the structure, not the solution
- For the JSON files: open both side by side in VS Code to show how similar they look. Ask students: "Can you spot the difference?" They usually cannot without running the validation. That makes the point about why automated validation matters.
If you are short on time: skip this slide entirely and go straight to Slide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(1 minute)
Read the three reminders aloud — do not rush.
Then open the floor for questions. Typical questions from students:
Q: "Can we use a different chart type from what the document specifies?"
A: "Yes — as long as the chart communicates the same information clearly and is titled and labelled correctly."
Q: "Does the generate_weekly_summary() function have to look exactly like the format in the document?"
A: "The format is a target, not a template. The numbers must be computed from the data. The structure should be readable by a non-technical person."
Q: "Can we use libraries not mentioned in the tools list?"
A: "For Part 1 — stick to Matplotlib or Seaborn. For Part 2 — json and pandas are the core. Do not introduce libraries that are not already installed in a basic Python environment."
After questions: share the four files, confirm the deadline, and let them begin.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7132320" y="-914400"/>
            <a:ext cx="3474720" cy="3474720"/>
          </a:xfrm>
          <a:prstGeom prst="ellipse">
            <a:avLst/>
          </a:prstGeom>
          <a:solidFill>
            <a:srgbClr val="2C5F8A">
              <a:alpha val="40000"/>
            </a:srgbClr>
          </a:solidFill>
          <a:ln/>
        </p:spPr>
      </p:sp>
      <p:sp>
        <p:nvSpPr>
          <p:cNvPr id="3" name="Shape 1"/>
          <p:cNvSpPr/>
          <p:nvPr/>
        </p:nvSpPr>
        <p:spPr>
          <a:xfrm>
            <a:off x="-548640" y="3474720"/>
            <a:ext cx="2286000" cy="2286000"/>
          </a:xfrm>
          <a:prstGeom prst="ellipse">
            <a:avLst/>
          </a:prstGeom>
          <a:solidFill>
            <a:srgbClr val="1D6A5C">
              <a:alpha val="30000"/>
            </a:srgbClr>
          </a:solidFill>
          <a:ln/>
        </p:spPr>
      </p:sp>
      <p:sp>
        <p:nvSpPr>
          <p:cNvPr id="4" name="Text 2"/>
          <p:cNvSpPr/>
          <p:nvPr/>
        </p:nvSpPr>
        <p:spPr>
          <a:xfrm>
            <a:off x="548640" y="411480"/>
            <a:ext cx="7315200" cy="274320"/>
          </a:xfrm>
          <a:prstGeom prst="rect">
            <a:avLst/>
          </a:prstGeom>
          <a:noFill/>
          <a:ln/>
        </p:spPr>
        <p:txBody>
          <a:bodyPr wrap="square" lIns="0" tIns="0" rIns="0" bIns="0" rtlCol="0" anchor="ctr"/>
          <a:lstStyle/>
          <a:p>
            <a:pPr indent="0" marL="0">
              <a:buNone/>
            </a:pPr>
            <a:r>
              <a:rPr lang="en-US" sz="1100" b="1" spc="500" kern="0" dirty="0">
                <a:solidFill>
                  <a:srgbClr val="BDD5EC"/>
                </a:solidFill>
                <a:latin typeface="Calibri" pitchFamily="34" charset="0"/>
                <a:ea typeface="Calibri" pitchFamily="34" charset="-122"/>
                <a:cs typeface="Calibri" pitchFamily="34" charset="-120"/>
              </a:rPr>
              <a:t>CALIBO AI ACADEMY</a:t>
            </a:r>
            <a:endParaRPr lang="en-US" sz="1100" dirty="0"/>
          </a:p>
        </p:txBody>
      </p:sp>
      <p:sp>
        <p:nvSpPr>
          <p:cNvPr id="5" name="Text 3"/>
          <p:cNvSpPr/>
          <p:nvPr/>
        </p:nvSpPr>
        <p:spPr>
          <a:xfrm>
            <a:off x="548640" y="777240"/>
            <a:ext cx="7772400" cy="64008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MUC01 — Trainer Briefing</a:t>
            </a:r>
            <a:endParaRPr lang="en-US" sz="3600" dirty="0"/>
          </a:p>
        </p:txBody>
      </p:sp>
      <p:sp>
        <p:nvSpPr>
          <p:cNvPr id="6" name="Text 4"/>
          <p:cNvSpPr/>
          <p:nvPr/>
        </p:nvSpPr>
        <p:spPr>
          <a:xfrm>
            <a:off x="548640" y="1463040"/>
            <a:ext cx="7772400" cy="411480"/>
          </a:xfrm>
          <a:prstGeom prst="rect">
            <a:avLst/>
          </a:prstGeom>
          <a:noFill/>
          <a:ln/>
        </p:spPr>
        <p:txBody>
          <a:bodyPr wrap="square" lIns="0" tIns="0" rIns="0" bIns="0" rtlCol="0" anchor="ctr"/>
          <a:lstStyle/>
          <a:p>
            <a:pPr indent="0" marL="0">
              <a:buNone/>
            </a:pPr>
            <a:r>
              <a:rPr lang="en-US" sz="1800" dirty="0">
                <a:solidFill>
                  <a:srgbClr val="BDD5EC"/>
                </a:solidFill>
                <a:latin typeface="Calibri" pitchFamily="34" charset="0"/>
                <a:ea typeface="Calibri" pitchFamily="34" charset="-122"/>
                <a:cs typeface="Calibri" pitchFamily="34" charset="-120"/>
              </a:rPr>
              <a:t>Retail Sales Pulse — From Analysis to Pipeline</a:t>
            </a:r>
            <a:endParaRPr lang="en-US" sz="1800" dirty="0"/>
          </a:p>
        </p:txBody>
      </p:sp>
      <p:sp>
        <p:nvSpPr>
          <p:cNvPr id="7" name="Shape 5"/>
          <p:cNvSpPr/>
          <p:nvPr/>
        </p:nvSpPr>
        <p:spPr>
          <a:xfrm>
            <a:off x="548640" y="1993392"/>
            <a:ext cx="8046720" cy="0"/>
          </a:xfrm>
          <a:prstGeom prst="line">
            <a:avLst/>
          </a:prstGeom>
          <a:noFill/>
          <a:ln w="12700">
            <a:solidFill>
              <a:srgbClr val="2C5F8A"/>
            </a:solidFill>
            <a:prstDash val="solid"/>
          </a:ln>
        </p:spPr>
      </p:sp>
      <p:sp>
        <p:nvSpPr>
          <p:cNvPr id="8" name="Text 6"/>
          <p:cNvSpPr/>
          <p:nvPr/>
        </p:nvSpPr>
        <p:spPr>
          <a:xfrm>
            <a:off x="548640" y="2103120"/>
            <a:ext cx="7315200" cy="274320"/>
          </a:xfrm>
          <a:prstGeom prst="rect">
            <a:avLst/>
          </a:prstGeom>
          <a:noFill/>
          <a:ln/>
        </p:spPr>
        <p:txBody>
          <a:bodyPr wrap="square" lIns="0" tIns="0" rIns="0" bIns="0" rtlCol="0" anchor="ctr"/>
          <a:lstStyle/>
          <a:p>
            <a:pPr indent="0" marL="0">
              <a:buNone/>
            </a:pPr>
            <a:r>
              <a:rPr lang="en-US" sz="1300" i="1" dirty="0">
                <a:solidFill>
                  <a:srgbClr val="888888"/>
                </a:solidFill>
                <a:latin typeface="Calibri" pitchFamily="34" charset="0"/>
                <a:ea typeface="Calibri" pitchFamily="34" charset="-122"/>
                <a:cs typeface="Calibri" pitchFamily="34" charset="-120"/>
              </a:rPr>
              <a:t>Phase 1  ·  Python Libraries (EDA)  &amp;  Data Engineering</a:t>
            </a:r>
            <a:endParaRPr lang="en-US" sz="1300" dirty="0"/>
          </a:p>
        </p:txBody>
      </p:sp>
      <p:sp>
        <p:nvSpPr>
          <p:cNvPr id="9" name="Shape 7"/>
          <p:cNvSpPr/>
          <p:nvPr/>
        </p:nvSpPr>
        <p:spPr>
          <a:xfrm>
            <a:off x="457200" y="3291840"/>
            <a:ext cx="1920240" cy="960120"/>
          </a:xfrm>
          <a:prstGeom prst="roundRect">
            <a:avLst>
              <a:gd name="adj" fmla="val 9524"/>
            </a:avLst>
          </a:prstGeom>
          <a:solidFill>
            <a:srgbClr val="2C5F8A"/>
          </a:solidFill>
          <a:ln/>
        </p:spPr>
      </p:sp>
      <p:sp>
        <p:nvSpPr>
          <p:cNvPr id="10" name="Text 8"/>
          <p:cNvSpPr/>
          <p:nvPr/>
        </p:nvSpPr>
        <p:spPr>
          <a:xfrm>
            <a:off x="457200" y="3364992"/>
            <a:ext cx="192024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15–30 min</a:t>
            </a:r>
            <a:endParaRPr lang="en-US" sz="1800" dirty="0"/>
          </a:p>
        </p:txBody>
      </p:sp>
      <p:sp>
        <p:nvSpPr>
          <p:cNvPr id="11" name="Text 9"/>
          <p:cNvSpPr/>
          <p:nvPr/>
        </p:nvSpPr>
        <p:spPr>
          <a:xfrm>
            <a:off x="457200" y="3749040"/>
            <a:ext cx="1920240" cy="274320"/>
          </a:xfrm>
          <a:prstGeom prst="rect">
            <a:avLst/>
          </a:prstGeom>
          <a:noFill/>
          <a:ln/>
        </p:spPr>
        <p:txBody>
          <a:bodyPr wrap="square" lIns="0" tIns="0" rIns="0" bIns="0" rtlCol="0" anchor="ctr"/>
          <a:lstStyle/>
          <a:p>
            <a:pPr algn="ctr" indent="0" marL="0">
              <a:buNone/>
            </a:pPr>
            <a:r>
              <a:rPr lang="en-US" sz="1000" dirty="0">
                <a:solidFill>
                  <a:srgbClr val="BDD5EC"/>
                </a:solidFill>
                <a:latin typeface="Calibri" pitchFamily="34" charset="0"/>
                <a:ea typeface="Calibri" pitchFamily="34" charset="-122"/>
                <a:cs typeface="Calibri" pitchFamily="34" charset="-120"/>
              </a:rPr>
              <a:t>Session length</a:t>
            </a:r>
            <a:endParaRPr lang="en-US" sz="1000" dirty="0"/>
          </a:p>
        </p:txBody>
      </p:sp>
      <p:sp>
        <p:nvSpPr>
          <p:cNvPr id="12" name="Shape 10"/>
          <p:cNvSpPr/>
          <p:nvPr/>
        </p:nvSpPr>
        <p:spPr>
          <a:xfrm>
            <a:off x="2633472" y="3291840"/>
            <a:ext cx="1920240" cy="960120"/>
          </a:xfrm>
          <a:prstGeom prst="roundRect">
            <a:avLst>
              <a:gd name="adj" fmla="val 9524"/>
            </a:avLst>
          </a:prstGeom>
          <a:solidFill>
            <a:srgbClr val="2C5F8A"/>
          </a:solidFill>
          <a:ln/>
        </p:spPr>
      </p:sp>
      <p:sp>
        <p:nvSpPr>
          <p:cNvPr id="13" name="Text 11"/>
          <p:cNvSpPr/>
          <p:nvPr/>
        </p:nvSpPr>
        <p:spPr>
          <a:xfrm>
            <a:off x="2633472" y="3364992"/>
            <a:ext cx="192024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 parts</a:t>
            </a:r>
            <a:endParaRPr lang="en-US" sz="1800" dirty="0"/>
          </a:p>
        </p:txBody>
      </p:sp>
      <p:sp>
        <p:nvSpPr>
          <p:cNvPr id="14" name="Text 12"/>
          <p:cNvSpPr/>
          <p:nvPr/>
        </p:nvSpPr>
        <p:spPr>
          <a:xfrm>
            <a:off x="2633472" y="3749040"/>
            <a:ext cx="1920240" cy="274320"/>
          </a:xfrm>
          <a:prstGeom prst="rect">
            <a:avLst/>
          </a:prstGeom>
          <a:noFill/>
          <a:ln/>
        </p:spPr>
        <p:txBody>
          <a:bodyPr wrap="square" lIns="0" tIns="0" rIns="0" bIns="0" rtlCol="0" anchor="ctr"/>
          <a:lstStyle/>
          <a:p>
            <a:pPr algn="ctr" indent="0" marL="0">
              <a:buNone/>
            </a:pPr>
            <a:r>
              <a:rPr lang="en-US" sz="1000" dirty="0">
                <a:solidFill>
                  <a:srgbClr val="BDD5EC"/>
                </a:solidFill>
                <a:latin typeface="Calibri" pitchFamily="34" charset="0"/>
                <a:ea typeface="Calibri" pitchFamily="34" charset="-122"/>
                <a:cs typeface="Calibri" pitchFamily="34" charset="-120"/>
              </a:rPr>
              <a:t>Use case structure</a:t>
            </a:r>
            <a:endParaRPr lang="en-US" sz="1000" dirty="0"/>
          </a:p>
        </p:txBody>
      </p:sp>
      <p:sp>
        <p:nvSpPr>
          <p:cNvPr id="15" name="Shape 13"/>
          <p:cNvSpPr/>
          <p:nvPr/>
        </p:nvSpPr>
        <p:spPr>
          <a:xfrm>
            <a:off x="4809744" y="3291840"/>
            <a:ext cx="1920240" cy="960120"/>
          </a:xfrm>
          <a:prstGeom prst="roundRect">
            <a:avLst>
              <a:gd name="adj" fmla="val 9524"/>
            </a:avLst>
          </a:prstGeom>
          <a:solidFill>
            <a:srgbClr val="2C5F8A"/>
          </a:solidFill>
          <a:ln/>
        </p:spPr>
      </p:sp>
      <p:sp>
        <p:nvSpPr>
          <p:cNvPr id="16" name="Text 14"/>
          <p:cNvSpPr/>
          <p:nvPr/>
        </p:nvSpPr>
        <p:spPr>
          <a:xfrm>
            <a:off x="4809744" y="3364992"/>
            <a:ext cx="192024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 files</a:t>
            </a:r>
            <a:endParaRPr lang="en-US" sz="1800" dirty="0"/>
          </a:p>
        </p:txBody>
      </p:sp>
      <p:sp>
        <p:nvSpPr>
          <p:cNvPr id="17" name="Text 15"/>
          <p:cNvSpPr/>
          <p:nvPr/>
        </p:nvSpPr>
        <p:spPr>
          <a:xfrm>
            <a:off x="4809744" y="3749040"/>
            <a:ext cx="1920240" cy="274320"/>
          </a:xfrm>
          <a:prstGeom prst="rect">
            <a:avLst/>
          </a:prstGeom>
          <a:noFill/>
          <a:ln/>
        </p:spPr>
        <p:txBody>
          <a:bodyPr wrap="square" lIns="0" tIns="0" rIns="0" bIns="0" rtlCol="0" anchor="ctr"/>
          <a:lstStyle/>
          <a:p>
            <a:pPr algn="ctr" indent="0" marL="0">
              <a:buNone/>
            </a:pPr>
            <a:r>
              <a:rPr lang="en-US" sz="1000" dirty="0">
                <a:solidFill>
                  <a:srgbClr val="BDD5EC"/>
                </a:solidFill>
                <a:latin typeface="Calibri" pitchFamily="34" charset="0"/>
                <a:ea typeface="Calibri" pitchFamily="34" charset="-122"/>
                <a:cs typeface="Calibri" pitchFamily="34" charset="-120"/>
              </a:rPr>
              <a:t>To share with students</a:t>
            </a:r>
            <a:endParaRPr lang="en-US" sz="1000" dirty="0"/>
          </a:p>
        </p:txBody>
      </p:sp>
      <p:sp>
        <p:nvSpPr>
          <p:cNvPr id="18" name="Shape 16"/>
          <p:cNvSpPr/>
          <p:nvPr/>
        </p:nvSpPr>
        <p:spPr>
          <a:xfrm>
            <a:off x="6986016" y="3291840"/>
            <a:ext cx="1920240" cy="960120"/>
          </a:xfrm>
          <a:prstGeom prst="roundRect">
            <a:avLst>
              <a:gd name="adj" fmla="val 9524"/>
            </a:avLst>
          </a:prstGeom>
          <a:solidFill>
            <a:srgbClr val="2C5F8A"/>
          </a:solidFill>
          <a:ln/>
        </p:spPr>
      </p:sp>
      <p:sp>
        <p:nvSpPr>
          <p:cNvPr id="19" name="Text 17"/>
          <p:cNvSpPr/>
          <p:nvPr/>
        </p:nvSpPr>
        <p:spPr>
          <a:xfrm>
            <a:off x="6986016" y="3364992"/>
            <a:ext cx="1920240"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Retail</a:t>
            </a:r>
            <a:endParaRPr lang="en-US" sz="1800" dirty="0"/>
          </a:p>
        </p:txBody>
      </p:sp>
      <p:sp>
        <p:nvSpPr>
          <p:cNvPr id="20" name="Text 18"/>
          <p:cNvSpPr/>
          <p:nvPr/>
        </p:nvSpPr>
        <p:spPr>
          <a:xfrm>
            <a:off x="6986016" y="3749040"/>
            <a:ext cx="1920240" cy="274320"/>
          </a:xfrm>
          <a:prstGeom prst="rect">
            <a:avLst/>
          </a:prstGeom>
          <a:noFill/>
          <a:ln/>
        </p:spPr>
        <p:txBody>
          <a:bodyPr wrap="square" lIns="0" tIns="0" rIns="0" bIns="0" rtlCol="0" anchor="ctr"/>
          <a:lstStyle/>
          <a:p>
            <a:pPr algn="ctr" indent="0" marL="0">
              <a:buNone/>
            </a:pPr>
            <a:r>
              <a:rPr lang="en-US" sz="1000" dirty="0">
                <a:solidFill>
                  <a:srgbClr val="BDD5EC"/>
                </a:solidFill>
                <a:latin typeface="Calibri" pitchFamily="34" charset="0"/>
                <a:ea typeface="Calibri" pitchFamily="34" charset="-122"/>
                <a:cs typeface="Calibri" pitchFamily="34" charset="-120"/>
              </a:rPr>
              <a:t>Industry context</a:t>
            </a:r>
            <a:endParaRPr lang="en-US" sz="1000" dirty="0"/>
          </a:p>
        </p:txBody>
      </p:sp>
      <p:sp>
        <p:nvSpPr>
          <p:cNvPr id="21" name="Shape 19"/>
          <p:cNvSpPr/>
          <p:nvPr/>
        </p:nvSpPr>
        <p:spPr>
          <a:xfrm>
            <a:off x="0" y="4892040"/>
            <a:ext cx="9144000" cy="137160"/>
          </a:xfrm>
          <a:prstGeom prst="rect">
            <a:avLst/>
          </a:prstGeom>
          <a:solidFill>
            <a:srgbClr val="1D6A5C"/>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A3A5C"/>
                </a:solidFill>
                <a:latin typeface="Calibri" pitchFamily="34" charset="0"/>
                <a:ea typeface="Calibri" pitchFamily="34" charset="-122"/>
                <a:cs typeface="Calibri" pitchFamily="34" charset="-120"/>
              </a:rPr>
              <a:t>The business story behind this use case</a:t>
            </a:r>
            <a:endParaRPr lang="en-US" sz="2600" dirty="0"/>
          </a:p>
        </p:txBody>
      </p:sp>
      <p:sp>
        <p:nvSpPr>
          <p:cNvPr id="3" name="Text 1"/>
          <p:cNvSpPr/>
          <p:nvPr/>
        </p:nvSpPr>
        <p:spPr>
          <a:xfrm>
            <a:off x="457200" y="804672"/>
            <a:ext cx="8229600" cy="320040"/>
          </a:xfrm>
          <a:prstGeom prst="rect">
            <a:avLst/>
          </a:prstGeom>
          <a:noFill/>
          <a:ln/>
        </p:spPr>
        <p:txBody>
          <a:bodyPr wrap="square" lIns="0" tIns="0" rIns="0" bIns="0" rtlCol="0" anchor="ctr"/>
          <a:lstStyle/>
          <a:p>
            <a:pPr indent="0" marL="0">
              <a:buNone/>
            </a:pPr>
            <a:r>
              <a:rPr lang="en-US" sz="1400" i="1" dirty="0">
                <a:solidFill>
                  <a:srgbClr val="888888"/>
                </a:solidFill>
                <a:latin typeface="Calibri" pitchFamily="34" charset="0"/>
                <a:ea typeface="Calibri" pitchFamily="34" charset="-122"/>
                <a:cs typeface="Calibri" pitchFamily="34" charset="-120"/>
              </a:rPr>
              <a:t>Understanding the context before touching the data</a:t>
            </a:r>
            <a:endParaRPr lang="en-US" sz="1400" dirty="0"/>
          </a:p>
        </p:txBody>
      </p:sp>
      <p:sp>
        <p:nvSpPr>
          <p:cNvPr id="4" name="Shape 2"/>
          <p:cNvSpPr/>
          <p:nvPr/>
        </p:nvSpPr>
        <p:spPr>
          <a:xfrm>
            <a:off x="0" y="4892040"/>
            <a:ext cx="9144000" cy="137160"/>
          </a:xfrm>
          <a:prstGeom prst="rect">
            <a:avLst/>
          </a:prstGeom>
          <a:solidFill>
            <a:srgbClr val="2C5F8A"/>
          </a:solidFill>
          <a:ln/>
        </p:spPr>
      </p:sp>
      <p:sp>
        <p:nvSpPr>
          <p:cNvPr id="5" name="Shape 3"/>
          <p:cNvSpPr/>
          <p:nvPr/>
        </p:nvSpPr>
        <p:spPr>
          <a:xfrm>
            <a:off x="457200" y="1261872"/>
            <a:ext cx="8229600" cy="1051560"/>
          </a:xfrm>
          <a:prstGeom prst="roundRect">
            <a:avLst>
              <a:gd name="adj" fmla="val 8696"/>
            </a:avLst>
          </a:prstGeom>
          <a:solidFill>
            <a:srgbClr val="EEF4FB"/>
          </a:solidFill>
          <a:ln w="12700">
            <a:solidFill>
              <a:srgbClr val="2C5F8A"/>
            </a:solidFill>
            <a:prstDash val="solid"/>
          </a:ln>
        </p:spPr>
      </p:sp>
      <p:sp>
        <p:nvSpPr>
          <p:cNvPr id="6" name="Text 4"/>
          <p:cNvSpPr/>
          <p:nvPr/>
        </p:nvSpPr>
        <p:spPr>
          <a:xfrm>
            <a:off x="621792" y="1325880"/>
            <a:ext cx="7863840" cy="868680"/>
          </a:xfrm>
          <a:prstGeom prst="rect">
            <a:avLst/>
          </a:prstGeom>
          <a:noFill/>
          <a:ln/>
        </p:spPr>
        <p:txBody>
          <a:bodyPr wrap="square" lIns="0" tIns="0" rIns="0" bIns="0" rtlCol="0" anchor="ctr"/>
          <a:lstStyle/>
          <a:p>
            <a:pPr indent="0" marL="0">
              <a:lnSpc>
                <a:spcPct val="140000"/>
              </a:lnSpc>
              <a:buNone/>
            </a:pPr>
            <a:r>
              <a:rPr lang="en-US" sz="1250" dirty="0">
                <a:solidFill>
                  <a:srgbClr val="111111"/>
                </a:solidFill>
                <a:latin typeface="Calibri" pitchFamily="34" charset="0"/>
                <a:ea typeface="Calibri" pitchFamily="34" charset="-122"/>
                <a:cs typeface="Calibri" pitchFamily="34" charset="-120"/>
              </a:rPr>
              <a:t>A retail chain running 12 stores across Andhra Pradesh has 6 months of sales data and a problem: the Head of Operations is making promotional spend decisions for Q3 without knowing which stores are underperforming, which categories are declining, or whether there are anomalies she should investigate.</a:t>
            </a:r>
            <a:endParaRPr lang="en-US" sz="1250" dirty="0"/>
          </a:p>
        </p:txBody>
      </p:sp>
      <p:sp>
        <p:nvSpPr>
          <p:cNvPr id="7" name="Text 5"/>
          <p:cNvSpPr/>
          <p:nvPr/>
        </p:nvSpPr>
        <p:spPr>
          <a:xfrm>
            <a:off x="457200" y="2487168"/>
            <a:ext cx="8229600" cy="292608"/>
          </a:xfrm>
          <a:prstGeom prst="rect">
            <a:avLst/>
          </a:prstGeom>
          <a:noFill/>
          <a:ln/>
        </p:spPr>
        <p:txBody>
          <a:bodyPr wrap="square" lIns="0" tIns="0" rIns="0" bIns="0" rtlCol="0" anchor="ctr"/>
          <a:lstStyle/>
          <a:p>
            <a:pPr indent="0" marL="0">
              <a:buNone/>
            </a:pPr>
            <a:r>
              <a:rPr lang="en-US" sz="1300" b="1" dirty="0">
                <a:solidFill>
                  <a:srgbClr val="1A3A5C"/>
                </a:solidFill>
                <a:latin typeface="Calibri" pitchFamily="34" charset="0"/>
                <a:ea typeface="Calibri" pitchFamily="34" charset="-122"/>
                <a:cs typeface="Calibri" pitchFamily="34" charset="-120"/>
              </a:rPr>
              <a:t>She needs two things from your team:</a:t>
            </a:r>
            <a:endParaRPr lang="en-US" sz="1300" dirty="0"/>
          </a:p>
        </p:txBody>
      </p:sp>
      <p:sp>
        <p:nvSpPr>
          <p:cNvPr id="8" name="Shape 6"/>
          <p:cNvSpPr/>
          <p:nvPr/>
        </p:nvSpPr>
        <p:spPr>
          <a:xfrm>
            <a:off x="457200" y="2880360"/>
            <a:ext cx="4023360" cy="1508760"/>
          </a:xfrm>
          <a:prstGeom prst="roundRect">
            <a:avLst>
              <a:gd name="adj" fmla="val 6061"/>
            </a:avLst>
          </a:prstGeom>
          <a:solidFill>
            <a:srgbClr val="EEF4FB"/>
          </a:solidFill>
          <a:ln w="12700">
            <a:solidFill>
              <a:srgbClr val="E0E0E0"/>
            </a:solidFill>
            <a:prstDash val="solid"/>
          </a:ln>
          <a:effectLst>
            <a:outerShdw sx="100000" sy="100000" kx="0" ky="0" algn="bl" rotWithShape="0" blurRad="76200" dist="38100" dir="2700000">
              <a:srgbClr val="000000">
                <a:alpha val="10000"/>
              </a:srgbClr>
            </a:outerShdw>
          </a:effectLst>
        </p:spPr>
      </p:sp>
      <p:sp>
        <p:nvSpPr>
          <p:cNvPr id="9" name="Shape 7"/>
          <p:cNvSpPr/>
          <p:nvPr/>
        </p:nvSpPr>
        <p:spPr>
          <a:xfrm>
            <a:off x="566928" y="2990088"/>
            <a:ext cx="347472" cy="347472"/>
          </a:xfrm>
          <a:prstGeom prst="ellipse">
            <a:avLst/>
          </a:prstGeom>
          <a:solidFill>
            <a:srgbClr val="1A3A5C"/>
          </a:solidFill>
          <a:ln/>
        </p:spPr>
      </p:sp>
      <p:sp>
        <p:nvSpPr>
          <p:cNvPr id="10" name="Text 8"/>
          <p:cNvSpPr/>
          <p:nvPr/>
        </p:nvSpPr>
        <p:spPr>
          <a:xfrm>
            <a:off x="566928" y="29900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p:nvPr/>
        </p:nvSpPr>
        <p:spPr>
          <a:xfrm>
            <a:off x="1005840" y="2990088"/>
            <a:ext cx="3364992" cy="347472"/>
          </a:xfrm>
          <a:prstGeom prst="rect">
            <a:avLst/>
          </a:prstGeom>
          <a:noFill/>
          <a:ln/>
        </p:spPr>
        <p:txBody>
          <a:bodyPr wrap="square" lIns="0" tIns="0" rIns="0" bIns="0" rtlCol="0" anchor="ctr"/>
          <a:lstStyle/>
          <a:p>
            <a:pPr indent="0" marL="0">
              <a:buNone/>
            </a:pPr>
            <a:r>
              <a:rPr lang="en-US" sz="1200" b="1" dirty="0">
                <a:solidFill>
                  <a:srgbClr val="1A3A5C"/>
                </a:solidFill>
                <a:latin typeface="Calibri" pitchFamily="34" charset="0"/>
                <a:ea typeface="Calibri" pitchFamily="34" charset="-122"/>
                <a:cs typeface="Calibri" pitchFamily="34" charset="-120"/>
              </a:rPr>
              <a:t>A clear picture of what the data says right now</a:t>
            </a:r>
            <a:endParaRPr lang="en-US" sz="1200" dirty="0"/>
          </a:p>
        </p:txBody>
      </p:sp>
      <p:sp>
        <p:nvSpPr>
          <p:cNvPr id="12" name="Text 10"/>
          <p:cNvSpPr/>
          <p:nvPr/>
        </p:nvSpPr>
        <p:spPr>
          <a:xfrm>
            <a:off x="594360" y="3410712"/>
            <a:ext cx="3767328" cy="850392"/>
          </a:xfrm>
          <a:prstGeom prst="rect">
            <a:avLst/>
          </a:prstGeom>
          <a:noFill/>
          <a:ln/>
        </p:spPr>
        <p:txBody>
          <a:bodyPr wrap="square" lIns="0" tIns="0" rIns="0" bIns="0" rtlCol="0" anchor="ctr"/>
          <a:lstStyle/>
          <a:p>
            <a:pPr indent="0" marL="0">
              <a:lnSpc>
                <a:spcPct val="130000"/>
              </a:lnSpc>
              <a:buNone/>
            </a:pPr>
            <a:r>
              <a:rPr lang="en-US" sz="1050" dirty="0">
                <a:solidFill>
                  <a:srgbClr val="111111"/>
                </a:solidFill>
                <a:latin typeface="Calibri" pitchFamily="34" charset="0"/>
                <a:ea typeface="Calibri" pitchFamily="34" charset="-122"/>
                <a:cs typeface="Calibri" pitchFamily="34" charset="-120"/>
              </a:rPr>
              <a:t>Which stores, categories, and time periods are driving performance gaps?</a:t>
            </a:r>
            <a:endParaRPr lang="en-US" sz="1050" dirty="0"/>
          </a:p>
        </p:txBody>
      </p:sp>
      <p:sp>
        <p:nvSpPr>
          <p:cNvPr id="13" name="Shape 11"/>
          <p:cNvSpPr/>
          <p:nvPr/>
        </p:nvSpPr>
        <p:spPr>
          <a:xfrm>
            <a:off x="4800600" y="2880360"/>
            <a:ext cx="4023360" cy="1508760"/>
          </a:xfrm>
          <a:prstGeom prst="roundRect">
            <a:avLst>
              <a:gd name="adj" fmla="val 6061"/>
            </a:avLst>
          </a:prstGeom>
          <a:solidFill>
            <a:srgbClr val="E8F5F2"/>
          </a:solidFill>
          <a:ln w="12700">
            <a:solidFill>
              <a:srgbClr val="E0E0E0"/>
            </a:solidFill>
            <a:prstDash val="solid"/>
          </a:ln>
          <a:effectLst>
            <a:outerShdw sx="100000" sy="100000" kx="0" ky="0" algn="bl" rotWithShape="0" blurRad="76200" dist="38100" dir="2700000">
              <a:srgbClr val="000000">
                <a:alpha val="10000"/>
              </a:srgbClr>
            </a:outerShdw>
          </a:effectLst>
        </p:spPr>
      </p:sp>
      <p:sp>
        <p:nvSpPr>
          <p:cNvPr id="14" name="Shape 12"/>
          <p:cNvSpPr/>
          <p:nvPr/>
        </p:nvSpPr>
        <p:spPr>
          <a:xfrm>
            <a:off x="4910328" y="2990088"/>
            <a:ext cx="347472" cy="347472"/>
          </a:xfrm>
          <a:prstGeom prst="ellipse">
            <a:avLst/>
          </a:prstGeom>
          <a:solidFill>
            <a:srgbClr val="1D6A5C"/>
          </a:solidFill>
          <a:ln/>
        </p:spPr>
      </p:sp>
      <p:sp>
        <p:nvSpPr>
          <p:cNvPr id="15" name="Text 13"/>
          <p:cNvSpPr/>
          <p:nvPr/>
        </p:nvSpPr>
        <p:spPr>
          <a:xfrm>
            <a:off x="4910328" y="299008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5349240" y="2990088"/>
            <a:ext cx="3364992" cy="347472"/>
          </a:xfrm>
          <a:prstGeom prst="rect">
            <a:avLst/>
          </a:prstGeom>
          <a:noFill/>
          <a:ln/>
        </p:spPr>
        <p:txBody>
          <a:bodyPr wrap="square" lIns="0" tIns="0" rIns="0" bIns="0" rtlCol="0" anchor="ctr"/>
          <a:lstStyle/>
          <a:p>
            <a:pPr indent="0" marL="0">
              <a:buNone/>
            </a:pPr>
            <a:r>
              <a:rPr lang="en-US" sz="1200" b="1" dirty="0">
                <a:solidFill>
                  <a:srgbClr val="1D6A5C"/>
                </a:solidFill>
                <a:latin typeface="Calibri" pitchFamily="34" charset="0"/>
                <a:ea typeface="Calibri" pitchFamily="34" charset="-122"/>
                <a:cs typeface="Calibri" pitchFamily="34" charset="-120"/>
              </a:rPr>
              <a:t>A way to get that picture automatically every week</a:t>
            </a:r>
            <a:endParaRPr lang="en-US" sz="1200" dirty="0"/>
          </a:p>
        </p:txBody>
      </p:sp>
      <p:sp>
        <p:nvSpPr>
          <p:cNvPr id="17" name="Text 15"/>
          <p:cNvSpPr/>
          <p:nvPr/>
        </p:nvSpPr>
        <p:spPr>
          <a:xfrm>
            <a:off x="4937760" y="3410712"/>
            <a:ext cx="3767328" cy="850392"/>
          </a:xfrm>
          <a:prstGeom prst="rect">
            <a:avLst/>
          </a:prstGeom>
          <a:noFill/>
          <a:ln/>
        </p:spPr>
        <p:txBody>
          <a:bodyPr wrap="square" lIns="0" tIns="0" rIns="0" bIns="0" rtlCol="0" anchor="ctr"/>
          <a:lstStyle/>
          <a:p>
            <a:pPr indent="0" marL="0">
              <a:lnSpc>
                <a:spcPct val="130000"/>
              </a:lnSpc>
              <a:buNone/>
            </a:pPr>
            <a:r>
              <a:rPr lang="en-US" sz="1050" dirty="0">
                <a:solidFill>
                  <a:srgbClr val="111111"/>
                </a:solidFill>
                <a:latin typeface="Calibri" pitchFamily="34" charset="0"/>
                <a:ea typeface="Calibri" pitchFamily="34" charset="-122"/>
                <a:cs typeface="Calibri" pitchFamily="34" charset="-120"/>
              </a:rPr>
              <a:t>She should not have to ask for it. The pipeline should deliver it.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892040"/>
            <a:ext cx="9144000" cy="137160"/>
          </a:xfrm>
          <a:prstGeom prst="rect">
            <a:avLst/>
          </a:prstGeom>
          <a:solidFill>
            <a:srgbClr val="1D6A5C"/>
          </a:solidFill>
          <a:ln/>
        </p:spPr>
      </p:sp>
      <p:sp>
        <p:nvSpPr>
          <p:cNvPr id="3" name="Text 1"/>
          <p:cNvSpPr/>
          <p:nvPr/>
        </p:nvSpPr>
        <p:spPr>
          <a:xfrm>
            <a:off x="731520" y="731520"/>
            <a:ext cx="7680960" cy="1463040"/>
          </a:xfrm>
          <a:prstGeom prst="rect">
            <a:avLst/>
          </a:prstGeom>
          <a:noFill/>
          <a:ln/>
        </p:spPr>
        <p:txBody>
          <a:bodyPr wrap="square" lIns="0" tIns="0" rIns="0" bIns="0" rtlCol="0" anchor="ctr"/>
          <a:lstStyle/>
          <a:p>
            <a:pPr algn="ctr" indent="0" marL="0">
              <a:lnSpc>
                <a:spcPct val="140000"/>
              </a:lnSpc>
              <a:buNone/>
            </a:pPr>
            <a:r>
              <a:rPr lang="en-US" sz="2200" i="1" dirty="0">
                <a:solidFill>
                  <a:srgbClr val="FFFFFF"/>
                </a:solidFill>
                <a:latin typeface="Calibri" pitchFamily="34" charset="0"/>
                <a:ea typeface="Calibri" pitchFamily="34" charset="-122"/>
                <a:cs typeface="Calibri" pitchFamily="34" charset="-120"/>
              </a:rPr>
              <a:t>"The day you understand the value of the work you do,</a:t>
            </a:r>
            <a:endParaRPr lang="en-US" sz="2200" dirty="0"/>
          </a:p>
          <a:p>
            <a:pPr algn="ctr" indent="0" marL="0">
              <a:lnSpc>
                <a:spcPct val="140000"/>
              </a:lnSpc>
              <a:buNone/>
            </a:pPr>
            <a:r>
              <a:rPr lang="en-US" sz="2200" i="1" dirty="0">
                <a:solidFill>
                  <a:srgbClr val="FFFFFF"/>
                </a:solidFill>
                <a:latin typeface="Calibri" pitchFamily="34" charset="0"/>
                <a:ea typeface="Calibri" pitchFamily="34" charset="-122"/>
                <a:cs typeface="Calibri" pitchFamily="34" charset="-120"/>
              </a:rPr>
              <a:t>is the day you add more value to the work you do."</a:t>
            </a:r>
            <a:endParaRPr lang="en-US" sz="2200" dirty="0"/>
          </a:p>
        </p:txBody>
      </p:sp>
      <p:sp>
        <p:nvSpPr>
          <p:cNvPr id="4" name="Shape 2"/>
          <p:cNvSpPr/>
          <p:nvPr/>
        </p:nvSpPr>
        <p:spPr>
          <a:xfrm>
            <a:off x="1371600" y="2331720"/>
            <a:ext cx="6400800" cy="0"/>
          </a:xfrm>
          <a:prstGeom prst="line">
            <a:avLst/>
          </a:prstGeom>
          <a:noFill/>
          <a:ln w="12700">
            <a:solidFill>
              <a:srgbClr val="2C5F8A"/>
            </a:solidFill>
            <a:prstDash val="solid"/>
          </a:ln>
        </p:spPr>
      </p:sp>
      <p:sp>
        <p:nvSpPr>
          <p:cNvPr id="5" name="Text 3"/>
          <p:cNvSpPr/>
          <p:nvPr/>
        </p:nvSpPr>
        <p:spPr>
          <a:xfrm>
            <a:off x="457200" y="2514600"/>
            <a:ext cx="8229600" cy="320040"/>
          </a:xfrm>
          <a:prstGeom prst="rect">
            <a:avLst/>
          </a:prstGeom>
          <a:noFill/>
          <a:ln/>
        </p:spPr>
        <p:txBody>
          <a:bodyPr wrap="square" lIns="0" tIns="0" rIns="0" bIns="0" rtlCol="0" anchor="ctr"/>
          <a:lstStyle/>
          <a:p>
            <a:pPr indent="0" marL="0">
              <a:buNone/>
            </a:pPr>
            <a:r>
              <a:rPr lang="en-US" sz="1300" b="1" dirty="0">
                <a:solidFill>
                  <a:srgbClr val="BDD5EC"/>
                </a:solidFill>
                <a:latin typeface="Calibri" pitchFamily="34" charset="0"/>
                <a:ea typeface="Calibri" pitchFamily="34" charset="-122"/>
                <a:cs typeface="Calibri" pitchFamily="34" charset="-120"/>
              </a:rPr>
              <a:t>What this means for MUC01:</a:t>
            </a:r>
            <a:endParaRPr lang="en-US" sz="1300" dirty="0"/>
          </a:p>
        </p:txBody>
      </p:sp>
      <p:sp>
        <p:nvSpPr>
          <p:cNvPr id="6" name="Text 4"/>
          <p:cNvSpPr/>
          <p:nvPr/>
        </p:nvSpPr>
        <p:spPr>
          <a:xfrm>
            <a:off x="548640" y="2926080"/>
            <a:ext cx="8046720" cy="530352"/>
          </a:xfrm>
          <a:prstGeom prst="rect">
            <a:avLst/>
          </a:prstGeom>
          <a:noFill/>
          <a:ln/>
        </p:spPr>
        <p:txBody>
          <a:bodyPr wrap="square" lIns="0" tIns="0" rIns="0" bIns="0" rtlCol="0" anchor="ctr"/>
          <a:lstStyle/>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1.  Part 1 — you are not just making charts. You are finding evidence that a business person will use to make a decision worth crores of rupees.</a:t>
            </a:r>
            <a:endParaRPr lang="en-US" sz="1200" dirty="0"/>
          </a:p>
        </p:txBody>
      </p:sp>
      <p:sp>
        <p:nvSpPr>
          <p:cNvPr id="7" name="Text 5"/>
          <p:cNvSpPr/>
          <p:nvPr/>
        </p:nvSpPr>
        <p:spPr>
          <a:xfrm>
            <a:off x="548640" y="3520440"/>
            <a:ext cx="8046720" cy="530352"/>
          </a:xfrm>
          <a:prstGeom prst="rect">
            <a:avLst/>
          </a:prstGeom>
          <a:noFill/>
          <a:ln/>
        </p:spPr>
        <p:txBody>
          <a:bodyPr wrap="square" lIns="0" tIns="0" rIns="0" bIns="0" rtlCol="0" anchor="ctr"/>
          <a:lstStyle/>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2.  Part 2 — you are not just parsing JSON. You are building the reliability that turns a one-time analysis into a system a business can depend on.</a:t>
            </a:r>
            <a:endParaRPr lang="en-US" sz="1200" dirty="0"/>
          </a:p>
        </p:txBody>
      </p:sp>
      <p:sp>
        <p:nvSpPr>
          <p:cNvPr id="8" name="Text 6"/>
          <p:cNvSpPr/>
          <p:nvPr/>
        </p:nvSpPr>
        <p:spPr>
          <a:xfrm>
            <a:off x="548640" y="4114800"/>
            <a:ext cx="8046720" cy="530352"/>
          </a:xfrm>
          <a:prstGeom prst="rect">
            <a:avLst/>
          </a:prstGeom>
          <a:noFill/>
          <a:ln/>
        </p:spPr>
        <p:txBody>
          <a:bodyPr wrap="square" lIns="0" tIns="0" rIns="0" bIns="0" rtlCol="0" anchor="ctr"/>
          <a:lstStyle/>
          <a:p>
            <a:pPr indent="0" marL="0">
              <a:lnSpc>
                <a:spcPct val="130000"/>
              </a:lnSpc>
              <a:buNone/>
            </a:pPr>
            <a:r>
              <a:rPr lang="en-US" sz="1200" dirty="0">
                <a:solidFill>
                  <a:srgbClr val="FFFFFF"/>
                </a:solidFill>
                <a:latin typeface="Calibri" pitchFamily="34" charset="0"/>
                <a:ea typeface="Calibri" pitchFamily="34" charset="-122"/>
                <a:cs typeface="Calibri" pitchFamily="34" charset="-120"/>
              </a:rPr>
              <a:t>3.  The CBIM canvas — you are not filling in a form. You are training yourself to define the problem before reaching for the solution. That habit is what separates AI practitioners from coders.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A3A5C"/>
                </a:solidFill>
                <a:latin typeface="Calibri" pitchFamily="34" charset="0"/>
                <a:ea typeface="Calibri" pitchFamily="34" charset="-122"/>
                <a:cs typeface="Calibri" pitchFamily="34" charset="-120"/>
              </a:rPr>
              <a:t>One use case. Two parts. One business story.</a:t>
            </a:r>
            <a:endParaRPr lang="en-US" sz="2600" dirty="0"/>
          </a:p>
        </p:txBody>
      </p:sp>
      <p:sp>
        <p:nvSpPr>
          <p:cNvPr id="3" name="Text 1"/>
          <p:cNvSpPr/>
          <p:nvPr/>
        </p:nvSpPr>
        <p:spPr>
          <a:xfrm>
            <a:off x="457200" y="804672"/>
            <a:ext cx="8229600" cy="320040"/>
          </a:xfrm>
          <a:prstGeom prst="rect">
            <a:avLst/>
          </a:prstGeom>
          <a:noFill/>
          <a:ln/>
        </p:spPr>
        <p:txBody>
          <a:bodyPr wrap="square" lIns="0" tIns="0" rIns="0" bIns="0" rtlCol="0" anchor="ctr"/>
          <a:lstStyle/>
          <a:p>
            <a:pPr indent="0" marL="0">
              <a:buNone/>
            </a:pPr>
            <a:r>
              <a:rPr lang="en-US" sz="1400" i="1" dirty="0">
                <a:solidFill>
                  <a:srgbClr val="888888"/>
                </a:solidFill>
                <a:latin typeface="Calibri" pitchFamily="34" charset="0"/>
                <a:ea typeface="Calibri" pitchFamily="34" charset="-122"/>
                <a:cs typeface="Calibri" pitchFamily="34" charset="-120"/>
              </a:rPr>
              <a:t>How Parts 1 and 2 connect</a:t>
            </a:r>
            <a:endParaRPr lang="en-US" sz="1400" dirty="0"/>
          </a:p>
        </p:txBody>
      </p:sp>
      <p:sp>
        <p:nvSpPr>
          <p:cNvPr id="4" name="Shape 2"/>
          <p:cNvSpPr/>
          <p:nvPr/>
        </p:nvSpPr>
        <p:spPr>
          <a:xfrm>
            <a:off x="0" y="4892040"/>
            <a:ext cx="9144000" cy="137160"/>
          </a:xfrm>
          <a:prstGeom prst="rect">
            <a:avLst/>
          </a:prstGeom>
          <a:solidFill>
            <a:srgbClr val="2C5F8A"/>
          </a:solidFill>
          <a:ln/>
        </p:spPr>
      </p:sp>
      <p:sp>
        <p:nvSpPr>
          <p:cNvPr id="5" name="Shape 3"/>
          <p:cNvSpPr/>
          <p:nvPr/>
        </p:nvSpPr>
        <p:spPr>
          <a:xfrm>
            <a:off x="365760" y="1207008"/>
            <a:ext cx="3931920" cy="3337560"/>
          </a:xfrm>
          <a:prstGeom prst="roundRect">
            <a:avLst>
              <a:gd name="adj" fmla="val 3288"/>
            </a:avLst>
          </a:prstGeom>
          <a:solidFill>
            <a:srgbClr val="EEF4FB"/>
          </a:solidFill>
          <a:ln w="12700">
            <a:solidFill>
              <a:srgbClr val="2C5F8A"/>
            </a:solidFill>
            <a:prstDash val="solid"/>
          </a:ln>
          <a:effectLst>
            <a:outerShdw sx="100000" sy="100000" kx="0" ky="0" algn="bl" rotWithShape="0" blurRad="76200" dist="38100" dir="2700000">
              <a:srgbClr val="000000">
                <a:alpha val="10000"/>
              </a:srgbClr>
            </a:outerShdw>
          </a:effectLst>
        </p:spPr>
      </p:sp>
      <p:sp>
        <p:nvSpPr>
          <p:cNvPr id="6" name="Text 4"/>
          <p:cNvSpPr/>
          <p:nvPr/>
        </p:nvSpPr>
        <p:spPr>
          <a:xfrm>
            <a:off x="365760" y="1298448"/>
            <a:ext cx="3931920" cy="274320"/>
          </a:xfrm>
          <a:prstGeom prst="rect">
            <a:avLst/>
          </a:prstGeom>
          <a:noFill/>
          <a:ln/>
        </p:spPr>
        <p:txBody>
          <a:bodyPr wrap="square" lIns="0" tIns="0" rIns="0" bIns="0" rtlCol="0" anchor="ctr"/>
          <a:lstStyle/>
          <a:p>
            <a:pPr algn="ctr" indent="0" marL="0">
              <a:buNone/>
            </a:pPr>
            <a:r>
              <a:rPr lang="en-US" sz="1100" b="1" spc="400" kern="0" dirty="0">
                <a:solidFill>
                  <a:srgbClr val="2C5F8A"/>
                </a:solidFill>
                <a:latin typeface="Calibri" pitchFamily="34" charset="0"/>
                <a:ea typeface="Calibri" pitchFamily="34" charset="-122"/>
                <a:cs typeface="Calibri" pitchFamily="34" charset="-120"/>
              </a:rPr>
              <a:t>PART 1</a:t>
            </a:r>
            <a:endParaRPr lang="en-US" sz="1100" dirty="0"/>
          </a:p>
        </p:txBody>
      </p:sp>
      <p:sp>
        <p:nvSpPr>
          <p:cNvPr id="7" name="Text 5"/>
          <p:cNvSpPr/>
          <p:nvPr/>
        </p:nvSpPr>
        <p:spPr>
          <a:xfrm>
            <a:off x="365760" y="1591056"/>
            <a:ext cx="3931920" cy="548640"/>
          </a:xfrm>
          <a:prstGeom prst="rect">
            <a:avLst/>
          </a:prstGeom>
          <a:noFill/>
          <a:ln/>
        </p:spPr>
        <p:txBody>
          <a:bodyPr wrap="square" lIns="0" tIns="0" rIns="0" bIns="0" rtlCol="0" anchor="ctr"/>
          <a:lstStyle/>
          <a:p>
            <a:pPr algn="ctr" indent="0" marL="0">
              <a:buNone/>
            </a:pPr>
            <a:r>
              <a:rPr lang="en-US" sz="1400" b="1" dirty="0">
                <a:solidFill>
                  <a:srgbClr val="1A3A5C"/>
                </a:solidFill>
                <a:latin typeface="Calibri" pitchFamily="34" charset="0"/>
                <a:ea typeface="Calibri" pitchFamily="34" charset="-122"/>
                <a:cs typeface="Calibri" pitchFamily="34" charset="-120"/>
              </a:rPr>
              <a:t>Retail Sales Pulse</a:t>
            </a:r>
            <a:endParaRPr lang="en-US" sz="1400" dirty="0"/>
          </a:p>
          <a:p>
            <a:pPr algn="ctr" indent="0" marL="0">
              <a:buNone/>
            </a:pPr>
            <a:r>
              <a:rPr lang="en-US" sz="1400" b="1" dirty="0">
                <a:solidFill>
                  <a:srgbClr val="1A3A5C"/>
                </a:solidFill>
                <a:latin typeface="Calibri" pitchFamily="34" charset="0"/>
                <a:ea typeface="Calibri" pitchFamily="34" charset="-122"/>
                <a:cs typeface="Calibri" pitchFamily="34" charset="-120"/>
              </a:rPr>
              <a:t>Exploratory Data Analysis</a:t>
            </a:r>
            <a:endParaRPr lang="en-US" sz="1400" dirty="0"/>
          </a:p>
        </p:txBody>
      </p:sp>
      <p:sp>
        <p:nvSpPr>
          <p:cNvPr id="8" name="Text 6"/>
          <p:cNvSpPr/>
          <p:nvPr/>
        </p:nvSpPr>
        <p:spPr>
          <a:xfrm>
            <a:off x="548640" y="2249424"/>
            <a:ext cx="3566160" cy="320040"/>
          </a:xfrm>
          <a:prstGeom prst="rect">
            <a:avLst/>
          </a:prstGeom>
          <a:noFill/>
          <a:ln/>
        </p:spPr>
        <p:txBody>
          <a:bodyPr wrap="square" lIns="0" tIns="0" rIns="0" bIns="0" rtlCol="0" anchor="ctr"/>
          <a:lstStyle/>
          <a:p>
            <a:pPr indent="0" marL="0">
              <a:buNone/>
            </a:pPr>
            <a:r>
              <a:rPr lang="en-US" sz="1150" dirty="0">
                <a:solidFill>
                  <a:srgbClr val="111111"/>
                </a:solidFill>
                <a:latin typeface="Calibri" pitchFamily="34" charset="0"/>
                <a:ea typeface="Calibri" pitchFamily="34" charset="-122"/>
                <a:cs typeface="Calibri" pitchFamily="34" charset="-120"/>
              </a:rPr>
              <a:t>›  5.1  Load &amp; inspect the data</a:t>
            </a:r>
            <a:endParaRPr lang="en-US" sz="1150" dirty="0"/>
          </a:p>
        </p:txBody>
      </p:sp>
      <p:sp>
        <p:nvSpPr>
          <p:cNvPr id="9" name="Text 7"/>
          <p:cNvSpPr/>
          <p:nvPr/>
        </p:nvSpPr>
        <p:spPr>
          <a:xfrm>
            <a:off x="548640" y="2596896"/>
            <a:ext cx="3566160" cy="320040"/>
          </a:xfrm>
          <a:prstGeom prst="rect">
            <a:avLst/>
          </a:prstGeom>
          <a:noFill/>
          <a:ln/>
        </p:spPr>
        <p:txBody>
          <a:bodyPr wrap="square" lIns="0" tIns="0" rIns="0" bIns="0" rtlCol="0" anchor="ctr"/>
          <a:lstStyle/>
          <a:p>
            <a:pPr indent="0" marL="0">
              <a:buNone/>
            </a:pPr>
            <a:r>
              <a:rPr lang="en-US" sz="1150" dirty="0">
                <a:solidFill>
                  <a:srgbClr val="111111"/>
                </a:solidFill>
                <a:latin typeface="Calibri" pitchFamily="34" charset="0"/>
                <a:ea typeface="Calibri" pitchFamily="34" charset="-122"/>
                <a:cs typeface="Calibri" pitchFamily="34" charset="-120"/>
              </a:rPr>
              <a:t>›  5.2  Revenue by store</a:t>
            </a:r>
            <a:endParaRPr lang="en-US" sz="1150" dirty="0"/>
          </a:p>
        </p:txBody>
      </p:sp>
      <p:sp>
        <p:nvSpPr>
          <p:cNvPr id="10" name="Text 8"/>
          <p:cNvSpPr/>
          <p:nvPr/>
        </p:nvSpPr>
        <p:spPr>
          <a:xfrm>
            <a:off x="548640" y="2944368"/>
            <a:ext cx="3566160" cy="320040"/>
          </a:xfrm>
          <a:prstGeom prst="rect">
            <a:avLst/>
          </a:prstGeom>
          <a:noFill/>
          <a:ln/>
        </p:spPr>
        <p:txBody>
          <a:bodyPr wrap="square" lIns="0" tIns="0" rIns="0" bIns="0" rtlCol="0" anchor="ctr"/>
          <a:lstStyle/>
          <a:p>
            <a:pPr indent="0" marL="0">
              <a:buNone/>
            </a:pPr>
            <a:r>
              <a:rPr lang="en-US" sz="1150" dirty="0">
                <a:solidFill>
                  <a:srgbClr val="111111"/>
                </a:solidFill>
                <a:latin typeface="Calibri" pitchFamily="34" charset="0"/>
                <a:ea typeface="Calibri" pitchFamily="34" charset="-122"/>
                <a:cs typeface="Calibri" pitchFamily="34" charset="-120"/>
              </a:rPr>
              <a:t>›  5.3  Category trends</a:t>
            </a:r>
            <a:endParaRPr lang="en-US" sz="1150" dirty="0"/>
          </a:p>
        </p:txBody>
      </p:sp>
      <p:sp>
        <p:nvSpPr>
          <p:cNvPr id="11" name="Text 9"/>
          <p:cNvSpPr/>
          <p:nvPr/>
        </p:nvSpPr>
        <p:spPr>
          <a:xfrm>
            <a:off x="548640" y="3291840"/>
            <a:ext cx="3566160" cy="320040"/>
          </a:xfrm>
          <a:prstGeom prst="rect">
            <a:avLst/>
          </a:prstGeom>
          <a:noFill/>
          <a:ln/>
        </p:spPr>
        <p:txBody>
          <a:bodyPr wrap="square" lIns="0" tIns="0" rIns="0" bIns="0" rtlCol="0" anchor="ctr"/>
          <a:lstStyle/>
          <a:p>
            <a:pPr indent="0" marL="0">
              <a:buNone/>
            </a:pPr>
            <a:r>
              <a:rPr lang="en-US" sz="1150" dirty="0">
                <a:solidFill>
                  <a:srgbClr val="111111"/>
                </a:solidFill>
                <a:latin typeface="Calibri" pitchFamily="34" charset="0"/>
                <a:ea typeface="Calibri" pitchFamily="34" charset="-122"/>
                <a:cs typeface="Calibri" pitchFamily="34" charset="-120"/>
              </a:rPr>
              <a:t>›  5.4  Day-of-week patterns</a:t>
            </a:r>
            <a:endParaRPr lang="en-US" sz="1150" dirty="0"/>
          </a:p>
        </p:txBody>
      </p:sp>
      <p:sp>
        <p:nvSpPr>
          <p:cNvPr id="12" name="Text 10"/>
          <p:cNvSpPr/>
          <p:nvPr/>
        </p:nvSpPr>
        <p:spPr>
          <a:xfrm>
            <a:off x="548640" y="3639312"/>
            <a:ext cx="3566160" cy="320040"/>
          </a:xfrm>
          <a:prstGeom prst="rect">
            <a:avLst/>
          </a:prstGeom>
          <a:noFill/>
          <a:ln/>
        </p:spPr>
        <p:txBody>
          <a:bodyPr wrap="square" lIns="0" tIns="0" rIns="0" bIns="0" rtlCol="0" anchor="ctr"/>
          <a:lstStyle/>
          <a:p>
            <a:pPr indent="0" marL="0">
              <a:buNone/>
            </a:pPr>
            <a:r>
              <a:rPr lang="en-US" sz="1150" dirty="0">
                <a:solidFill>
                  <a:srgbClr val="111111"/>
                </a:solidFill>
                <a:latin typeface="Calibri" pitchFamily="34" charset="0"/>
                <a:ea typeface="Calibri" pitchFamily="34" charset="-122"/>
                <a:cs typeface="Calibri" pitchFamily="34" charset="-120"/>
              </a:rPr>
              <a:t>›  5.5  Anomaly identification</a:t>
            </a:r>
            <a:endParaRPr lang="en-US" sz="1150" dirty="0"/>
          </a:p>
        </p:txBody>
      </p:sp>
      <p:sp>
        <p:nvSpPr>
          <p:cNvPr id="13" name="Text 11"/>
          <p:cNvSpPr/>
          <p:nvPr/>
        </p:nvSpPr>
        <p:spPr>
          <a:xfrm>
            <a:off x="548640" y="3986784"/>
            <a:ext cx="3566160" cy="320040"/>
          </a:xfrm>
          <a:prstGeom prst="rect">
            <a:avLst/>
          </a:prstGeom>
          <a:noFill/>
          <a:ln/>
        </p:spPr>
        <p:txBody>
          <a:bodyPr wrap="square" lIns="0" tIns="0" rIns="0" bIns="0" rtlCol="0" anchor="ctr"/>
          <a:lstStyle/>
          <a:p>
            <a:pPr indent="0" marL="0">
              <a:buNone/>
            </a:pPr>
            <a:r>
              <a:rPr lang="en-US" sz="1150" dirty="0">
                <a:solidFill>
                  <a:srgbClr val="111111"/>
                </a:solidFill>
                <a:latin typeface="Calibri" pitchFamily="34" charset="0"/>
                <a:ea typeface="Calibri" pitchFamily="34" charset="-122"/>
                <a:cs typeface="Calibri" pitchFamily="34" charset="-120"/>
              </a:rPr>
              <a:t>›  5.6  Business recommendation</a:t>
            </a:r>
            <a:endParaRPr lang="en-US" sz="1150" dirty="0"/>
          </a:p>
        </p:txBody>
      </p:sp>
      <p:sp>
        <p:nvSpPr>
          <p:cNvPr id="14" name="Shape 12"/>
          <p:cNvSpPr/>
          <p:nvPr/>
        </p:nvSpPr>
        <p:spPr>
          <a:xfrm>
            <a:off x="4407408" y="2560320"/>
            <a:ext cx="512064" cy="502920"/>
          </a:xfrm>
          <a:prstGeom prst="rightArrow">
            <a:avLst/>
          </a:prstGeom>
          <a:solidFill>
            <a:srgbClr val="888888"/>
          </a:solidFill>
          <a:ln/>
        </p:spPr>
      </p:sp>
      <p:sp>
        <p:nvSpPr>
          <p:cNvPr id="15" name="Text 13"/>
          <p:cNvSpPr/>
          <p:nvPr/>
        </p:nvSpPr>
        <p:spPr>
          <a:xfrm>
            <a:off x="4315968" y="3127248"/>
            <a:ext cx="694944" cy="256032"/>
          </a:xfrm>
          <a:prstGeom prst="rect">
            <a:avLst/>
          </a:prstGeom>
          <a:noFill/>
          <a:ln/>
        </p:spPr>
        <p:txBody>
          <a:bodyPr wrap="square" lIns="0" tIns="0" rIns="0" bIns="0" rtlCol="0" anchor="ctr"/>
          <a:lstStyle/>
          <a:p>
            <a:pPr algn="ctr" indent="0" marL="0">
              <a:buNone/>
            </a:pPr>
            <a:r>
              <a:rPr lang="en-US" sz="900" i="1" dirty="0">
                <a:solidFill>
                  <a:srgbClr val="888888"/>
                </a:solidFill>
                <a:latin typeface="Calibri" pitchFamily="34" charset="0"/>
                <a:ea typeface="Calibri" pitchFamily="34" charset="-122"/>
                <a:cs typeface="Calibri" pitchFamily="34" charset="-120"/>
              </a:rPr>
              <a:t>feeds into</a:t>
            </a:r>
            <a:endParaRPr lang="en-US" sz="900" dirty="0"/>
          </a:p>
        </p:txBody>
      </p:sp>
      <p:sp>
        <p:nvSpPr>
          <p:cNvPr id="16" name="Shape 14"/>
          <p:cNvSpPr/>
          <p:nvPr/>
        </p:nvSpPr>
        <p:spPr>
          <a:xfrm>
            <a:off x="4846320" y="1207008"/>
            <a:ext cx="3931920" cy="3337560"/>
          </a:xfrm>
          <a:prstGeom prst="roundRect">
            <a:avLst>
              <a:gd name="adj" fmla="val 3288"/>
            </a:avLst>
          </a:prstGeom>
          <a:solidFill>
            <a:srgbClr val="E8F5F2"/>
          </a:solidFill>
          <a:ln w="12700">
            <a:solidFill>
              <a:srgbClr val="1D6A5C"/>
            </a:solidFill>
            <a:prstDash val="solid"/>
          </a:ln>
          <a:effectLst>
            <a:outerShdw sx="100000" sy="100000" kx="0" ky="0" algn="bl" rotWithShape="0" blurRad="76200" dist="38100" dir="2700000">
              <a:srgbClr val="000000">
                <a:alpha val="10000"/>
              </a:srgbClr>
            </a:outerShdw>
          </a:effectLst>
        </p:spPr>
      </p:sp>
      <p:sp>
        <p:nvSpPr>
          <p:cNvPr id="17" name="Text 15"/>
          <p:cNvSpPr/>
          <p:nvPr/>
        </p:nvSpPr>
        <p:spPr>
          <a:xfrm>
            <a:off x="4846320" y="1298448"/>
            <a:ext cx="3931920" cy="274320"/>
          </a:xfrm>
          <a:prstGeom prst="rect">
            <a:avLst/>
          </a:prstGeom>
          <a:noFill/>
          <a:ln/>
        </p:spPr>
        <p:txBody>
          <a:bodyPr wrap="square" lIns="0" tIns="0" rIns="0" bIns="0" rtlCol="0" anchor="ctr"/>
          <a:lstStyle/>
          <a:p>
            <a:pPr algn="ctr" indent="0" marL="0">
              <a:buNone/>
            </a:pPr>
            <a:r>
              <a:rPr lang="en-US" sz="1100" b="1" spc="400" kern="0" dirty="0">
                <a:solidFill>
                  <a:srgbClr val="1D6A5C"/>
                </a:solidFill>
                <a:latin typeface="Calibri" pitchFamily="34" charset="0"/>
                <a:ea typeface="Calibri" pitchFamily="34" charset="-122"/>
                <a:cs typeface="Calibri" pitchFamily="34" charset="-120"/>
              </a:rPr>
              <a:t>PART 2</a:t>
            </a:r>
            <a:endParaRPr lang="en-US" sz="1100" dirty="0"/>
          </a:p>
        </p:txBody>
      </p:sp>
      <p:sp>
        <p:nvSpPr>
          <p:cNvPr id="18" name="Text 16"/>
          <p:cNvSpPr/>
          <p:nvPr/>
        </p:nvSpPr>
        <p:spPr>
          <a:xfrm>
            <a:off x="4846320" y="1591056"/>
            <a:ext cx="3931920" cy="548640"/>
          </a:xfrm>
          <a:prstGeom prst="rect">
            <a:avLst/>
          </a:prstGeom>
          <a:noFill/>
          <a:ln/>
        </p:spPr>
        <p:txBody>
          <a:bodyPr wrap="square" lIns="0" tIns="0" rIns="0" bIns="0" rtlCol="0" anchor="ctr"/>
          <a:lstStyle/>
          <a:p>
            <a:pPr algn="ctr" indent="0" marL="0">
              <a:buNone/>
            </a:pPr>
            <a:r>
              <a:rPr lang="en-US" sz="1400" b="1" dirty="0">
                <a:solidFill>
                  <a:srgbClr val="1D6A5C"/>
                </a:solidFill>
                <a:latin typeface="Calibri" pitchFamily="34" charset="0"/>
                <a:ea typeface="Calibri" pitchFamily="34" charset="-122"/>
                <a:cs typeface="Calibri" pitchFamily="34" charset="-120"/>
              </a:rPr>
              <a:t>Automating the Pulse</a:t>
            </a:r>
            <a:endParaRPr lang="en-US" sz="1400" dirty="0"/>
          </a:p>
          <a:p>
            <a:pPr algn="ctr" indent="0" marL="0">
              <a:buNone/>
            </a:pPr>
            <a:r>
              <a:rPr lang="en-US" sz="1400" b="1" dirty="0">
                <a:solidFill>
                  <a:srgbClr val="1D6A5C"/>
                </a:solidFill>
                <a:latin typeface="Calibri" pitchFamily="34" charset="0"/>
                <a:ea typeface="Calibri" pitchFamily="34" charset="-122"/>
                <a:cs typeface="Calibri" pitchFamily="34" charset="-120"/>
              </a:rPr>
              <a:t>Data Pipeline &amp; Validation</a:t>
            </a:r>
            <a:endParaRPr lang="en-US" sz="1400" dirty="0"/>
          </a:p>
        </p:txBody>
      </p:sp>
      <p:sp>
        <p:nvSpPr>
          <p:cNvPr id="19" name="Text 17"/>
          <p:cNvSpPr/>
          <p:nvPr/>
        </p:nvSpPr>
        <p:spPr>
          <a:xfrm>
            <a:off x="5029200" y="2249424"/>
            <a:ext cx="3566160" cy="320040"/>
          </a:xfrm>
          <a:prstGeom prst="rect">
            <a:avLst/>
          </a:prstGeom>
          <a:noFill/>
          <a:ln/>
        </p:spPr>
        <p:txBody>
          <a:bodyPr wrap="square" lIns="0" tIns="0" rIns="0" bIns="0" rtlCol="0" anchor="ctr"/>
          <a:lstStyle/>
          <a:p>
            <a:pPr indent="0" marL="0">
              <a:buNone/>
            </a:pPr>
            <a:r>
              <a:rPr lang="en-US" sz="1150" dirty="0">
                <a:solidFill>
                  <a:srgbClr val="111111"/>
                </a:solidFill>
                <a:latin typeface="Calibri" pitchFamily="34" charset="0"/>
                <a:ea typeface="Calibri" pitchFamily="34" charset="-122"/>
                <a:cs typeface="Calibri" pitchFamily="34" charset="-120"/>
              </a:rPr>
              <a:t>›  5.7  Understand the JSON structure</a:t>
            </a:r>
            <a:endParaRPr lang="en-US" sz="1150" dirty="0"/>
          </a:p>
        </p:txBody>
      </p:sp>
      <p:sp>
        <p:nvSpPr>
          <p:cNvPr id="20" name="Text 18"/>
          <p:cNvSpPr/>
          <p:nvPr/>
        </p:nvSpPr>
        <p:spPr>
          <a:xfrm>
            <a:off x="5029200" y="2596896"/>
            <a:ext cx="3566160" cy="320040"/>
          </a:xfrm>
          <a:prstGeom prst="rect">
            <a:avLst/>
          </a:prstGeom>
          <a:noFill/>
          <a:ln/>
        </p:spPr>
        <p:txBody>
          <a:bodyPr wrap="square" lIns="0" tIns="0" rIns="0" bIns="0" rtlCol="0" anchor="ctr"/>
          <a:lstStyle/>
          <a:p>
            <a:pPr indent="0" marL="0">
              <a:buNone/>
            </a:pPr>
            <a:r>
              <a:rPr lang="en-US" sz="1150" dirty="0">
                <a:solidFill>
                  <a:srgbClr val="111111"/>
                </a:solidFill>
                <a:latin typeface="Calibri" pitchFamily="34" charset="0"/>
                <a:ea typeface="Calibri" pitchFamily="34" charset="-122"/>
                <a:cs typeface="Calibri" pitchFamily="34" charset="-120"/>
              </a:rPr>
              <a:t>›  5.8  Ingest &amp; parse API response</a:t>
            </a:r>
            <a:endParaRPr lang="en-US" sz="1150" dirty="0"/>
          </a:p>
        </p:txBody>
      </p:sp>
      <p:sp>
        <p:nvSpPr>
          <p:cNvPr id="21" name="Text 19"/>
          <p:cNvSpPr/>
          <p:nvPr/>
        </p:nvSpPr>
        <p:spPr>
          <a:xfrm>
            <a:off x="5029200" y="2944368"/>
            <a:ext cx="3566160" cy="320040"/>
          </a:xfrm>
          <a:prstGeom prst="rect">
            <a:avLst/>
          </a:prstGeom>
          <a:noFill/>
          <a:ln/>
        </p:spPr>
        <p:txBody>
          <a:bodyPr wrap="square" lIns="0" tIns="0" rIns="0" bIns="0" rtlCol="0" anchor="ctr"/>
          <a:lstStyle/>
          <a:p>
            <a:pPr indent="0" marL="0">
              <a:buNone/>
            </a:pPr>
            <a:r>
              <a:rPr lang="en-US" sz="1150" dirty="0">
                <a:solidFill>
                  <a:srgbClr val="111111"/>
                </a:solidFill>
                <a:latin typeface="Calibri" pitchFamily="34" charset="0"/>
                <a:ea typeface="Calibri" pitchFamily="34" charset="-122"/>
                <a:cs typeface="Calibri" pitchFamily="34" charset="-120"/>
              </a:rPr>
              <a:t>›  5.9  Validate the data</a:t>
            </a:r>
            <a:endParaRPr lang="en-US" sz="1150" dirty="0"/>
          </a:p>
        </p:txBody>
      </p:sp>
      <p:sp>
        <p:nvSpPr>
          <p:cNvPr id="22" name="Text 20"/>
          <p:cNvSpPr/>
          <p:nvPr/>
        </p:nvSpPr>
        <p:spPr>
          <a:xfrm>
            <a:off x="5029200" y="3291840"/>
            <a:ext cx="3566160" cy="320040"/>
          </a:xfrm>
          <a:prstGeom prst="rect">
            <a:avLst/>
          </a:prstGeom>
          <a:noFill/>
          <a:ln/>
        </p:spPr>
        <p:txBody>
          <a:bodyPr wrap="square" lIns="0" tIns="0" rIns="0" bIns="0" rtlCol="0" anchor="ctr"/>
          <a:lstStyle/>
          <a:p>
            <a:pPr indent="0" marL="0">
              <a:buNone/>
            </a:pPr>
            <a:r>
              <a:rPr lang="en-US" sz="1150" dirty="0">
                <a:solidFill>
                  <a:srgbClr val="111111"/>
                </a:solidFill>
                <a:latin typeface="Calibri" pitchFamily="34" charset="0"/>
                <a:ea typeface="Calibri" pitchFamily="34" charset="-122"/>
                <a:cs typeface="Calibri" pitchFamily="34" charset="-120"/>
              </a:rPr>
              <a:t>›  5.10 Transform &amp; aggregate</a:t>
            </a:r>
            <a:endParaRPr lang="en-US" sz="1150" dirty="0"/>
          </a:p>
        </p:txBody>
      </p:sp>
      <p:sp>
        <p:nvSpPr>
          <p:cNvPr id="23" name="Text 21"/>
          <p:cNvSpPr/>
          <p:nvPr/>
        </p:nvSpPr>
        <p:spPr>
          <a:xfrm>
            <a:off x="5029200" y="3639312"/>
            <a:ext cx="3566160" cy="320040"/>
          </a:xfrm>
          <a:prstGeom prst="rect">
            <a:avLst/>
          </a:prstGeom>
          <a:noFill/>
          <a:ln/>
        </p:spPr>
        <p:txBody>
          <a:bodyPr wrap="square" lIns="0" tIns="0" rIns="0" bIns="0" rtlCol="0" anchor="ctr"/>
          <a:lstStyle/>
          <a:p>
            <a:pPr indent="0" marL="0">
              <a:buNone/>
            </a:pPr>
            <a:r>
              <a:rPr lang="en-US" sz="1150" dirty="0">
                <a:solidFill>
                  <a:srgbClr val="111111"/>
                </a:solidFill>
                <a:latin typeface="Calibri" pitchFamily="34" charset="0"/>
                <a:ea typeface="Calibri" pitchFamily="34" charset="-122"/>
                <a:cs typeface="Calibri" pitchFamily="34" charset="-120"/>
              </a:rPr>
              <a:t>›  5.11 Weekly summary function</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A3A5C"/>
                </a:solidFill>
                <a:latin typeface="Calibri" pitchFamily="34" charset="0"/>
                <a:ea typeface="Calibri" pitchFamily="34" charset="-122"/>
                <a:cs typeface="Calibri" pitchFamily="34" charset="-120"/>
              </a:rPr>
              <a:t>The CBIM Canvas — why it comes first</a:t>
            </a:r>
            <a:endParaRPr lang="en-US" sz="2600" dirty="0"/>
          </a:p>
        </p:txBody>
      </p:sp>
      <p:sp>
        <p:nvSpPr>
          <p:cNvPr id="3" name="Text 1"/>
          <p:cNvSpPr/>
          <p:nvPr/>
        </p:nvSpPr>
        <p:spPr>
          <a:xfrm>
            <a:off x="457200" y="804672"/>
            <a:ext cx="8229600" cy="320040"/>
          </a:xfrm>
          <a:prstGeom prst="rect">
            <a:avLst/>
          </a:prstGeom>
          <a:noFill/>
          <a:ln/>
        </p:spPr>
        <p:txBody>
          <a:bodyPr wrap="square" lIns="0" tIns="0" rIns="0" bIns="0" rtlCol="0" anchor="ctr"/>
          <a:lstStyle/>
          <a:p>
            <a:pPr indent="0" marL="0">
              <a:buNone/>
            </a:pPr>
            <a:r>
              <a:rPr lang="en-US" sz="1400" i="1" dirty="0">
                <a:solidFill>
                  <a:srgbClr val="888888"/>
                </a:solidFill>
                <a:latin typeface="Calibri" pitchFamily="34" charset="0"/>
                <a:ea typeface="Calibri" pitchFamily="34" charset="-122"/>
                <a:cs typeface="Calibri" pitchFamily="34" charset="-120"/>
              </a:rPr>
              <a:t>This is not paperwork. It is how professionals start.</a:t>
            </a:r>
            <a:endParaRPr lang="en-US" sz="1400" dirty="0"/>
          </a:p>
        </p:txBody>
      </p:sp>
      <p:sp>
        <p:nvSpPr>
          <p:cNvPr id="4" name="Shape 2"/>
          <p:cNvSpPr/>
          <p:nvPr/>
        </p:nvSpPr>
        <p:spPr>
          <a:xfrm>
            <a:off x="0" y="4892040"/>
            <a:ext cx="9144000" cy="137160"/>
          </a:xfrm>
          <a:prstGeom prst="rect">
            <a:avLst/>
          </a:prstGeom>
          <a:solidFill>
            <a:srgbClr val="2C5F8A"/>
          </a:solidFill>
          <a:ln/>
        </p:spPr>
      </p:sp>
      <p:sp>
        <p:nvSpPr>
          <p:cNvPr id="5" name="Text 3"/>
          <p:cNvSpPr/>
          <p:nvPr/>
        </p:nvSpPr>
        <p:spPr>
          <a:xfrm>
            <a:off x="457200" y="1207008"/>
            <a:ext cx="8229600" cy="320040"/>
          </a:xfrm>
          <a:prstGeom prst="rect">
            <a:avLst/>
          </a:prstGeom>
          <a:noFill/>
          <a:ln/>
        </p:spPr>
        <p:txBody>
          <a:bodyPr wrap="square" lIns="0" tIns="0" rIns="0" bIns="0" rtlCol="0" anchor="ctr"/>
          <a:lstStyle/>
          <a:p>
            <a:pPr indent="0" marL="0">
              <a:buNone/>
            </a:pPr>
            <a:r>
              <a:rPr lang="en-US" sz="1400" b="1" dirty="0">
                <a:solidFill>
                  <a:srgbClr val="1A3A5C"/>
                </a:solidFill>
                <a:latin typeface="Calibri" pitchFamily="34" charset="0"/>
                <a:ea typeface="Calibri" pitchFamily="34" charset="-122"/>
                <a:cs typeface="Calibri" pitchFamily="34" charset="-120"/>
              </a:rPr>
              <a:t>Complete the canvas before writing a single line of code.</a:t>
            </a:r>
            <a:endParaRPr lang="en-US" sz="1400" dirty="0"/>
          </a:p>
        </p:txBody>
      </p:sp>
      <p:sp>
        <p:nvSpPr>
          <p:cNvPr id="6" name="Shape 4"/>
          <p:cNvSpPr/>
          <p:nvPr/>
        </p:nvSpPr>
        <p:spPr>
          <a:xfrm>
            <a:off x="365760" y="1664208"/>
            <a:ext cx="4023360" cy="841248"/>
          </a:xfrm>
          <a:prstGeom prst="roundRect">
            <a:avLst>
              <a:gd name="adj" fmla="val 8696"/>
            </a:avLst>
          </a:prstGeom>
          <a:solidFill>
            <a:srgbClr val="EEF4FB"/>
          </a:solidFill>
          <a:ln w="12700">
            <a:solidFill>
              <a:srgbClr val="E0E0E0"/>
            </a:solidFill>
            <a:prstDash val="solid"/>
          </a:ln>
        </p:spPr>
      </p:sp>
      <p:sp>
        <p:nvSpPr>
          <p:cNvPr id="7" name="Text 5"/>
          <p:cNvSpPr/>
          <p:nvPr/>
        </p:nvSpPr>
        <p:spPr>
          <a:xfrm>
            <a:off x="493776" y="1728216"/>
            <a:ext cx="3749040" cy="256032"/>
          </a:xfrm>
          <a:prstGeom prst="rect">
            <a:avLst/>
          </a:prstGeom>
          <a:noFill/>
          <a:ln/>
        </p:spPr>
        <p:txBody>
          <a:bodyPr wrap="square" lIns="0" tIns="0" rIns="0" bIns="0" rtlCol="0" anchor="ctr"/>
          <a:lstStyle/>
          <a:p>
            <a:pPr indent="0" marL="0">
              <a:buNone/>
            </a:pPr>
            <a:r>
              <a:rPr lang="en-US" sz="1150" b="1" dirty="0">
                <a:solidFill>
                  <a:srgbClr val="1A3A5C"/>
                </a:solidFill>
                <a:latin typeface="Calibri" pitchFamily="34" charset="0"/>
                <a:ea typeface="Calibri" pitchFamily="34" charset="-122"/>
                <a:cs typeface="Calibri" pitchFamily="34" charset="-120"/>
              </a:rPr>
              <a:t>Situation (S)</a:t>
            </a:r>
            <a:endParaRPr lang="en-US" sz="1150" dirty="0"/>
          </a:p>
        </p:txBody>
      </p:sp>
      <p:sp>
        <p:nvSpPr>
          <p:cNvPr id="8" name="Text 6"/>
          <p:cNvSpPr/>
          <p:nvPr/>
        </p:nvSpPr>
        <p:spPr>
          <a:xfrm>
            <a:off x="493776" y="1993392"/>
            <a:ext cx="3749040" cy="438912"/>
          </a:xfrm>
          <a:prstGeom prst="rect">
            <a:avLst/>
          </a:prstGeom>
          <a:noFill/>
          <a:ln/>
        </p:spPr>
        <p:txBody>
          <a:bodyPr wrap="square" lIns="0" tIns="0" rIns="0" bIns="0" rtlCol="0" anchor="ctr"/>
          <a:lstStyle/>
          <a:p>
            <a:pPr indent="0" marL="0">
              <a:lnSpc>
                <a:spcPct val="125000"/>
              </a:lnSpc>
              <a:buNone/>
            </a:pPr>
            <a:r>
              <a:rPr lang="en-US" sz="1050" dirty="0">
                <a:solidFill>
                  <a:srgbClr val="111111"/>
                </a:solidFill>
                <a:latin typeface="Calibri" pitchFamily="34" charset="0"/>
                <a:ea typeface="Calibri" pitchFamily="34" charset="-122"/>
                <a:cs typeface="Calibri" pitchFamily="34" charset="-120"/>
              </a:rPr>
              <a:t>What exists today — the retail chain, the data, the team asking for help.</a:t>
            </a:r>
            <a:endParaRPr lang="en-US" sz="1050" dirty="0"/>
          </a:p>
        </p:txBody>
      </p:sp>
      <p:sp>
        <p:nvSpPr>
          <p:cNvPr id="9" name="Shape 7"/>
          <p:cNvSpPr/>
          <p:nvPr/>
        </p:nvSpPr>
        <p:spPr>
          <a:xfrm>
            <a:off x="4709160" y="1664208"/>
            <a:ext cx="4023360" cy="841248"/>
          </a:xfrm>
          <a:prstGeom prst="roundRect">
            <a:avLst>
              <a:gd name="adj" fmla="val 8696"/>
            </a:avLst>
          </a:prstGeom>
          <a:solidFill>
            <a:srgbClr val="EEF4FB"/>
          </a:solidFill>
          <a:ln w="12700">
            <a:solidFill>
              <a:srgbClr val="E0E0E0"/>
            </a:solidFill>
            <a:prstDash val="solid"/>
          </a:ln>
        </p:spPr>
      </p:sp>
      <p:sp>
        <p:nvSpPr>
          <p:cNvPr id="10" name="Text 8"/>
          <p:cNvSpPr/>
          <p:nvPr/>
        </p:nvSpPr>
        <p:spPr>
          <a:xfrm>
            <a:off x="4837176" y="1728216"/>
            <a:ext cx="3749040" cy="256032"/>
          </a:xfrm>
          <a:prstGeom prst="rect">
            <a:avLst/>
          </a:prstGeom>
          <a:noFill/>
          <a:ln/>
        </p:spPr>
        <p:txBody>
          <a:bodyPr wrap="square" lIns="0" tIns="0" rIns="0" bIns="0" rtlCol="0" anchor="ctr"/>
          <a:lstStyle/>
          <a:p>
            <a:pPr indent="0" marL="0">
              <a:buNone/>
            </a:pPr>
            <a:r>
              <a:rPr lang="en-US" sz="1150" b="1" dirty="0">
                <a:solidFill>
                  <a:srgbClr val="1A3A5C"/>
                </a:solidFill>
                <a:latin typeface="Calibri" pitchFamily="34" charset="0"/>
                <a:ea typeface="Calibri" pitchFamily="34" charset="-122"/>
                <a:cs typeface="Calibri" pitchFamily="34" charset="-120"/>
              </a:rPr>
              <a:t>Complication (C)</a:t>
            </a:r>
            <a:endParaRPr lang="en-US" sz="1150" dirty="0"/>
          </a:p>
        </p:txBody>
      </p:sp>
      <p:sp>
        <p:nvSpPr>
          <p:cNvPr id="11" name="Text 9"/>
          <p:cNvSpPr/>
          <p:nvPr/>
        </p:nvSpPr>
        <p:spPr>
          <a:xfrm>
            <a:off x="4837176" y="1993392"/>
            <a:ext cx="3749040" cy="438912"/>
          </a:xfrm>
          <a:prstGeom prst="rect">
            <a:avLst/>
          </a:prstGeom>
          <a:noFill/>
          <a:ln/>
        </p:spPr>
        <p:txBody>
          <a:bodyPr wrap="square" lIns="0" tIns="0" rIns="0" bIns="0" rtlCol="0" anchor="ctr"/>
          <a:lstStyle/>
          <a:p>
            <a:pPr indent="0" marL="0">
              <a:lnSpc>
                <a:spcPct val="125000"/>
              </a:lnSpc>
              <a:buNone/>
            </a:pPr>
            <a:r>
              <a:rPr lang="en-US" sz="1050" dirty="0">
                <a:solidFill>
                  <a:srgbClr val="111111"/>
                </a:solidFill>
                <a:latin typeface="Calibri" pitchFamily="34" charset="0"/>
                <a:ea typeface="Calibri" pitchFamily="34" charset="-122"/>
                <a:cs typeface="Calibri" pitchFamily="34" charset="-120"/>
              </a:rPr>
              <a:t>What problem exists — no insight, decisions made on gut feel, no automation.</a:t>
            </a:r>
            <a:endParaRPr lang="en-US" sz="1050" dirty="0"/>
          </a:p>
        </p:txBody>
      </p:sp>
      <p:sp>
        <p:nvSpPr>
          <p:cNvPr id="12" name="Shape 10"/>
          <p:cNvSpPr/>
          <p:nvPr/>
        </p:nvSpPr>
        <p:spPr>
          <a:xfrm>
            <a:off x="365760" y="2624328"/>
            <a:ext cx="4023360" cy="841248"/>
          </a:xfrm>
          <a:prstGeom prst="roundRect">
            <a:avLst>
              <a:gd name="adj" fmla="val 8696"/>
            </a:avLst>
          </a:prstGeom>
          <a:solidFill>
            <a:srgbClr val="EEF4FB"/>
          </a:solidFill>
          <a:ln w="12700">
            <a:solidFill>
              <a:srgbClr val="E0E0E0"/>
            </a:solidFill>
            <a:prstDash val="solid"/>
          </a:ln>
        </p:spPr>
      </p:sp>
      <p:sp>
        <p:nvSpPr>
          <p:cNvPr id="13" name="Text 11"/>
          <p:cNvSpPr/>
          <p:nvPr/>
        </p:nvSpPr>
        <p:spPr>
          <a:xfrm>
            <a:off x="493776" y="2688336"/>
            <a:ext cx="3749040" cy="256032"/>
          </a:xfrm>
          <a:prstGeom prst="rect">
            <a:avLst/>
          </a:prstGeom>
          <a:noFill/>
          <a:ln/>
        </p:spPr>
        <p:txBody>
          <a:bodyPr wrap="square" lIns="0" tIns="0" rIns="0" bIns="0" rtlCol="0" anchor="ctr"/>
          <a:lstStyle/>
          <a:p>
            <a:pPr indent="0" marL="0">
              <a:buNone/>
            </a:pPr>
            <a:r>
              <a:rPr lang="en-US" sz="1150" b="1" dirty="0">
                <a:solidFill>
                  <a:srgbClr val="1A3A5C"/>
                </a:solidFill>
                <a:latin typeface="Calibri" pitchFamily="34" charset="0"/>
                <a:ea typeface="Calibri" pitchFamily="34" charset="-122"/>
                <a:cs typeface="Calibri" pitchFamily="34" charset="-120"/>
              </a:rPr>
              <a:t>Question (Q)</a:t>
            </a:r>
            <a:endParaRPr lang="en-US" sz="1150" dirty="0"/>
          </a:p>
        </p:txBody>
      </p:sp>
      <p:sp>
        <p:nvSpPr>
          <p:cNvPr id="14" name="Text 12"/>
          <p:cNvSpPr/>
          <p:nvPr/>
        </p:nvSpPr>
        <p:spPr>
          <a:xfrm>
            <a:off x="493776" y="2953512"/>
            <a:ext cx="3749040" cy="438912"/>
          </a:xfrm>
          <a:prstGeom prst="rect">
            <a:avLst/>
          </a:prstGeom>
          <a:noFill/>
          <a:ln/>
        </p:spPr>
        <p:txBody>
          <a:bodyPr wrap="square" lIns="0" tIns="0" rIns="0" bIns="0" rtlCol="0" anchor="ctr"/>
          <a:lstStyle/>
          <a:p>
            <a:pPr indent="0" marL="0">
              <a:lnSpc>
                <a:spcPct val="125000"/>
              </a:lnSpc>
              <a:buNone/>
            </a:pPr>
            <a:r>
              <a:rPr lang="en-US" sz="1050" dirty="0">
                <a:solidFill>
                  <a:srgbClr val="111111"/>
                </a:solidFill>
                <a:latin typeface="Calibri" pitchFamily="34" charset="0"/>
                <a:ea typeface="Calibri" pitchFamily="34" charset="-122"/>
                <a:cs typeface="Calibri" pitchFamily="34" charset="-120"/>
              </a:rPr>
              <a:t>The specific business question — not 'analyse data' but what the ops head needs to decide.</a:t>
            </a:r>
            <a:endParaRPr lang="en-US" sz="1050" dirty="0"/>
          </a:p>
        </p:txBody>
      </p:sp>
      <p:sp>
        <p:nvSpPr>
          <p:cNvPr id="15" name="Shape 13"/>
          <p:cNvSpPr/>
          <p:nvPr/>
        </p:nvSpPr>
        <p:spPr>
          <a:xfrm>
            <a:off x="4709160" y="2624328"/>
            <a:ext cx="4023360" cy="841248"/>
          </a:xfrm>
          <a:prstGeom prst="roundRect">
            <a:avLst>
              <a:gd name="adj" fmla="val 8696"/>
            </a:avLst>
          </a:prstGeom>
          <a:solidFill>
            <a:srgbClr val="FEF3DC"/>
          </a:solidFill>
          <a:ln w="12700">
            <a:solidFill>
              <a:srgbClr val="E0E0E0"/>
            </a:solidFill>
            <a:prstDash val="solid"/>
          </a:ln>
        </p:spPr>
      </p:sp>
      <p:sp>
        <p:nvSpPr>
          <p:cNvPr id="16" name="Text 14"/>
          <p:cNvSpPr/>
          <p:nvPr/>
        </p:nvSpPr>
        <p:spPr>
          <a:xfrm>
            <a:off x="4837176" y="2688336"/>
            <a:ext cx="3749040" cy="256032"/>
          </a:xfrm>
          <a:prstGeom prst="rect">
            <a:avLst/>
          </a:prstGeom>
          <a:noFill/>
          <a:ln/>
        </p:spPr>
        <p:txBody>
          <a:bodyPr wrap="square" lIns="0" tIns="0" rIns="0" bIns="0" rtlCol="0" anchor="ctr"/>
          <a:lstStyle/>
          <a:p>
            <a:pPr indent="0" marL="0">
              <a:buNone/>
            </a:pPr>
            <a:r>
              <a:rPr lang="en-US" sz="1150" b="1" dirty="0">
                <a:solidFill>
                  <a:srgbClr val="C8860A"/>
                </a:solidFill>
                <a:latin typeface="Calibri" pitchFamily="34" charset="0"/>
                <a:ea typeface="Calibri" pitchFamily="34" charset="-122"/>
                <a:cs typeface="Calibri" pitchFamily="34" charset="-120"/>
              </a:rPr>
              <a:t>SSOT</a:t>
            </a:r>
            <a:endParaRPr lang="en-US" sz="1150" dirty="0"/>
          </a:p>
        </p:txBody>
      </p:sp>
      <p:sp>
        <p:nvSpPr>
          <p:cNvPr id="17" name="Text 15"/>
          <p:cNvSpPr/>
          <p:nvPr/>
        </p:nvSpPr>
        <p:spPr>
          <a:xfrm>
            <a:off x="4837176" y="2953512"/>
            <a:ext cx="3749040" cy="438912"/>
          </a:xfrm>
          <a:prstGeom prst="rect">
            <a:avLst/>
          </a:prstGeom>
          <a:noFill/>
          <a:ln/>
        </p:spPr>
        <p:txBody>
          <a:bodyPr wrap="square" lIns="0" tIns="0" rIns="0" bIns="0" rtlCol="0" anchor="ctr"/>
          <a:lstStyle/>
          <a:p>
            <a:pPr indent="0" marL="0">
              <a:lnSpc>
                <a:spcPct val="125000"/>
              </a:lnSpc>
              <a:buNone/>
            </a:pPr>
            <a:r>
              <a:rPr lang="en-US" sz="1050" dirty="0">
                <a:solidFill>
                  <a:srgbClr val="111111"/>
                </a:solidFill>
                <a:latin typeface="Calibri" pitchFamily="34" charset="0"/>
                <a:ea typeface="Calibri" pitchFamily="34" charset="-122"/>
                <a:cs typeface="Calibri" pitchFamily="34" charset="-120"/>
              </a:rPr>
              <a:t>Two sources here: the CSV (historical) and the JSON (live). How do they relate? Students must explain this.</a:t>
            </a:r>
            <a:endParaRPr lang="en-US" sz="1050" dirty="0"/>
          </a:p>
        </p:txBody>
      </p:sp>
      <p:sp>
        <p:nvSpPr>
          <p:cNvPr id="18" name="Shape 16"/>
          <p:cNvSpPr/>
          <p:nvPr/>
        </p:nvSpPr>
        <p:spPr>
          <a:xfrm>
            <a:off x="365760" y="3584448"/>
            <a:ext cx="4023360" cy="841248"/>
          </a:xfrm>
          <a:prstGeom prst="roundRect">
            <a:avLst>
              <a:gd name="adj" fmla="val 8696"/>
            </a:avLst>
          </a:prstGeom>
          <a:solidFill>
            <a:srgbClr val="EEF4FB"/>
          </a:solidFill>
          <a:ln w="12700">
            <a:solidFill>
              <a:srgbClr val="E0E0E0"/>
            </a:solidFill>
            <a:prstDash val="solid"/>
          </a:ln>
        </p:spPr>
      </p:sp>
      <p:sp>
        <p:nvSpPr>
          <p:cNvPr id="19" name="Text 17"/>
          <p:cNvSpPr/>
          <p:nvPr/>
        </p:nvSpPr>
        <p:spPr>
          <a:xfrm>
            <a:off x="493776" y="3648456"/>
            <a:ext cx="3749040" cy="256032"/>
          </a:xfrm>
          <a:prstGeom prst="rect">
            <a:avLst/>
          </a:prstGeom>
          <a:noFill/>
          <a:ln/>
        </p:spPr>
        <p:txBody>
          <a:bodyPr wrap="square" lIns="0" tIns="0" rIns="0" bIns="0" rtlCol="0" anchor="ctr"/>
          <a:lstStyle/>
          <a:p>
            <a:pPr indent="0" marL="0">
              <a:buNone/>
            </a:pPr>
            <a:r>
              <a:rPr lang="en-US" sz="1150" b="1" dirty="0">
                <a:solidFill>
                  <a:srgbClr val="1A3A5C"/>
                </a:solidFill>
                <a:latin typeface="Calibri" pitchFamily="34" charset="0"/>
                <a:ea typeface="Calibri" pitchFamily="34" charset="-122"/>
                <a:cs typeface="Calibri" pitchFamily="34" charset="-120"/>
              </a:rPr>
              <a:t>Success definition</a:t>
            </a:r>
            <a:endParaRPr lang="en-US" sz="1150" dirty="0"/>
          </a:p>
        </p:txBody>
      </p:sp>
      <p:sp>
        <p:nvSpPr>
          <p:cNvPr id="20" name="Text 18"/>
          <p:cNvSpPr/>
          <p:nvPr/>
        </p:nvSpPr>
        <p:spPr>
          <a:xfrm>
            <a:off x="493776" y="3913632"/>
            <a:ext cx="3749040" cy="438912"/>
          </a:xfrm>
          <a:prstGeom prst="rect">
            <a:avLst/>
          </a:prstGeom>
          <a:noFill/>
          <a:ln/>
        </p:spPr>
        <p:txBody>
          <a:bodyPr wrap="square" lIns="0" tIns="0" rIns="0" bIns="0" rtlCol="0" anchor="ctr"/>
          <a:lstStyle/>
          <a:p>
            <a:pPr indent="0" marL="0">
              <a:lnSpc>
                <a:spcPct val="125000"/>
              </a:lnSpc>
              <a:buNone/>
            </a:pPr>
            <a:r>
              <a:rPr lang="en-US" sz="1050" dirty="0">
                <a:solidFill>
                  <a:srgbClr val="111111"/>
                </a:solidFill>
                <a:latin typeface="Calibri" pitchFamily="34" charset="0"/>
                <a:ea typeface="Calibri" pitchFamily="34" charset="-122"/>
                <a:cs typeface="Calibri" pitchFamily="34" charset="-120"/>
              </a:rPr>
              <a:t>One measure for Part 1 (insight delivered), one for Part 2 (pipeline runs cleanly).</a:t>
            </a:r>
            <a:endParaRPr lang="en-US" sz="1050" dirty="0"/>
          </a:p>
        </p:txBody>
      </p:sp>
      <p:sp>
        <p:nvSpPr>
          <p:cNvPr id="21" name="Shape 19"/>
          <p:cNvSpPr/>
          <p:nvPr/>
        </p:nvSpPr>
        <p:spPr>
          <a:xfrm>
            <a:off x="4709160" y="3584448"/>
            <a:ext cx="4023360" cy="841248"/>
          </a:xfrm>
          <a:prstGeom prst="roundRect">
            <a:avLst>
              <a:gd name="adj" fmla="val 8696"/>
            </a:avLst>
          </a:prstGeom>
          <a:solidFill>
            <a:srgbClr val="EEF4FB"/>
          </a:solidFill>
          <a:ln w="12700">
            <a:solidFill>
              <a:srgbClr val="E0E0E0"/>
            </a:solidFill>
            <a:prstDash val="solid"/>
          </a:ln>
        </p:spPr>
      </p:sp>
      <p:sp>
        <p:nvSpPr>
          <p:cNvPr id="22" name="Text 20"/>
          <p:cNvSpPr/>
          <p:nvPr/>
        </p:nvSpPr>
        <p:spPr>
          <a:xfrm>
            <a:off x="4837176" y="3648456"/>
            <a:ext cx="3749040" cy="256032"/>
          </a:xfrm>
          <a:prstGeom prst="rect">
            <a:avLst/>
          </a:prstGeom>
          <a:noFill/>
          <a:ln/>
        </p:spPr>
        <p:txBody>
          <a:bodyPr wrap="square" lIns="0" tIns="0" rIns="0" bIns="0" rtlCol="0" anchor="ctr"/>
          <a:lstStyle/>
          <a:p>
            <a:pPr indent="0" marL="0">
              <a:buNone/>
            </a:pPr>
            <a:r>
              <a:rPr lang="en-US" sz="1150" b="1" dirty="0">
                <a:solidFill>
                  <a:srgbClr val="1A3A5C"/>
                </a:solidFill>
                <a:latin typeface="Calibri" pitchFamily="34" charset="0"/>
                <a:ea typeface="Calibri" pitchFamily="34" charset="-122"/>
                <a:cs typeface="Calibri" pitchFamily="34" charset="-120"/>
              </a:rPr>
              <a:t>Primary stakeholder</a:t>
            </a:r>
            <a:endParaRPr lang="en-US" sz="1150" dirty="0"/>
          </a:p>
        </p:txBody>
      </p:sp>
      <p:sp>
        <p:nvSpPr>
          <p:cNvPr id="23" name="Text 21"/>
          <p:cNvSpPr/>
          <p:nvPr/>
        </p:nvSpPr>
        <p:spPr>
          <a:xfrm>
            <a:off x="4837176" y="3913632"/>
            <a:ext cx="3749040" cy="438912"/>
          </a:xfrm>
          <a:prstGeom prst="rect">
            <a:avLst/>
          </a:prstGeom>
          <a:noFill/>
          <a:ln/>
        </p:spPr>
        <p:txBody>
          <a:bodyPr wrap="square" lIns="0" tIns="0" rIns="0" bIns="0" rtlCol="0" anchor="ctr"/>
          <a:lstStyle/>
          <a:p>
            <a:pPr indent="0" marL="0">
              <a:lnSpc>
                <a:spcPct val="125000"/>
              </a:lnSpc>
              <a:buNone/>
            </a:pPr>
            <a:r>
              <a:rPr lang="en-US" sz="1050" dirty="0">
                <a:solidFill>
                  <a:srgbClr val="111111"/>
                </a:solidFill>
                <a:latin typeface="Calibri" pitchFamily="34" charset="0"/>
                <a:ea typeface="Calibri" pitchFamily="34" charset="-122"/>
                <a:cs typeface="Calibri" pitchFamily="34" charset="-120"/>
              </a:rPr>
              <a:t>The Head of Operations — who she is, what she needs to decide, and by when.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A3A5C"/>
                </a:solidFill>
                <a:latin typeface="Calibri" pitchFamily="34" charset="0"/>
                <a:ea typeface="Calibri" pitchFamily="34" charset="-122"/>
                <a:cs typeface="Calibri" pitchFamily="34" charset="-120"/>
              </a:rPr>
              <a:t>What students receive</a:t>
            </a:r>
            <a:endParaRPr lang="en-US" sz="2600" dirty="0"/>
          </a:p>
        </p:txBody>
      </p:sp>
      <p:sp>
        <p:nvSpPr>
          <p:cNvPr id="3" name="Text 1"/>
          <p:cNvSpPr/>
          <p:nvPr/>
        </p:nvSpPr>
        <p:spPr>
          <a:xfrm>
            <a:off x="457200" y="804672"/>
            <a:ext cx="8229600" cy="320040"/>
          </a:xfrm>
          <a:prstGeom prst="rect">
            <a:avLst/>
          </a:prstGeom>
          <a:noFill/>
          <a:ln/>
        </p:spPr>
        <p:txBody>
          <a:bodyPr wrap="square" lIns="0" tIns="0" rIns="0" bIns="0" rtlCol="0" anchor="ctr"/>
          <a:lstStyle/>
          <a:p>
            <a:pPr indent="0" marL="0">
              <a:buNone/>
            </a:pPr>
            <a:r>
              <a:rPr lang="en-US" sz="1400" i="1" dirty="0">
                <a:solidFill>
                  <a:srgbClr val="888888"/>
                </a:solidFill>
                <a:latin typeface="Calibri" pitchFamily="34" charset="0"/>
                <a:ea typeface="Calibri" pitchFamily="34" charset="-122"/>
                <a:cs typeface="Calibri" pitchFamily="34" charset="-120"/>
              </a:rPr>
              <a:t>Four files — share all four before the session</a:t>
            </a:r>
            <a:endParaRPr lang="en-US" sz="1400" dirty="0"/>
          </a:p>
        </p:txBody>
      </p:sp>
      <p:sp>
        <p:nvSpPr>
          <p:cNvPr id="4" name="Shape 2"/>
          <p:cNvSpPr/>
          <p:nvPr/>
        </p:nvSpPr>
        <p:spPr>
          <a:xfrm>
            <a:off x="0" y="4892040"/>
            <a:ext cx="9144000" cy="137160"/>
          </a:xfrm>
          <a:prstGeom prst="rect">
            <a:avLst/>
          </a:prstGeom>
          <a:solidFill>
            <a:srgbClr val="2C5F8A"/>
          </a:solidFill>
          <a:ln/>
        </p:spPr>
      </p:sp>
      <p:sp>
        <p:nvSpPr>
          <p:cNvPr id="5" name="Shape 3"/>
          <p:cNvSpPr/>
          <p:nvPr/>
        </p:nvSpPr>
        <p:spPr>
          <a:xfrm>
            <a:off x="365760" y="1207008"/>
            <a:ext cx="8412480" cy="777240"/>
          </a:xfrm>
          <a:prstGeom prst="roundRect">
            <a:avLst>
              <a:gd name="adj" fmla="val 9412"/>
            </a:avLst>
          </a:prstGeom>
          <a:solidFill>
            <a:srgbClr val="EEF4FB"/>
          </a:solidFill>
          <a:ln w="12700">
            <a:solidFill>
              <a:srgbClr val="E0E0E0"/>
            </a:solidFill>
            <a:prstDash val="solid"/>
          </a:ln>
        </p:spPr>
      </p:sp>
      <p:sp>
        <p:nvSpPr>
          <p:cNvPr id="6" name="Text 4"/>
          <p:cNvSpPr/>
          <p:nvPr/>
        </p:nvSpPr>
        <p:spPr>
          <a:xfrm>
            <a:off x="502920" y="1298448"/>
            <a:ext cx="457200" cy="54864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7" name="Text 5"/>
          <p:cNvSpPr/>
          <p:nvPr/>
        </p:nvSpPr>
        <p:spPr>
          <a:xfrm>
            <a:off x="1024128" y="1280160"/>
            <a:ext cx="5303520" cy="292608"/>
          </a:xfrm>
          <a:prstGeom prst="rect">
            <a:avLst/>
          </a:prstGeom>
          <a:noFill/>
          <a:ln/>
        </p:spPr>
        <p:txBody>
          <a:bodyPr wrap="square" lIns="0" tIns="0" rIns="0" bIns="0" rtlCol="0" anchor="ctr"/>
          <a:lstStyle/>
          <a:p>
            <a:pPr indent="0" marL="0">
              <a:buNone/>
            </a:pPr>
            <a:r>
              <a:rPr lang="en-US" sz="1200" b="1" dirty="0">
                <a:solidFill>
                  <a:srgbClr val="1A3A5C"/>
                </a:solidFill>
                <a:latin typeface="Courier New" pitchFamily="34" charset="0"/>
                <a:ea typeface="Courier New" pitchFamily="34" charset="-122"/>
                <a:cs typeface="Courier New" pitchFamily="34" charset="-120"/>
              </a:rPr>
              <a:t>MUC01_Retail_Sales_Dataset.csv</a:t>
            </a:r>
            <a:endParaRPr lang="en-US" sz="1200" dirty="0"/>
          </a:p>
        </p:txBody>
      </p:sp>
      <p:sp>
        <p:nvSpPr>
          <p:cNvPr id="8" name="Shape 6"/>
          <p:cNvSpPr/>
          <p:nvPr/>
        </p:nvSpPr>
        <p:spPr>
          <a:xfrm>
            <a:off x="6492240" y="1280160"/>
            <a:ext cx="1371600" cy="347472"/>
          </a:xfrm>
          <a:prstGeom prst="roundRect">
            <a:avLst>
              <a:gd name="adj" fmla="val 15789"/>
            </a:avLst>
          </a:prstGeom>
          <a:solidFill>
            <a:srgbClr val="2C5F8A"/>
          </a:solidFill>
          <a:ln/>
        </p:spPr>
      </p:sp>
      <p:sp>
        <p:nvSpPr>
          <p:cNvPr id="9" name="Text 7"/>
          <p:cNvSpPr/>
          <p:nvPr/>
        </p:nvSpPr>
        <p:spPr>
          <a:xfrm>
            <a:off x="6492240" y="1280160"/>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1</a:t>
            </a:r>
            <a:endParaRPr lang="en-US" sz="1100" dirty="0"/>
          </a:p>
        </p:txBody>
      </p:sp>
      <p:sp>
        <p:nvSpPr>
          <p:cNvPr id="10" name="Text 8"/>
          <p:cNvSpPr/>
          <p:nvPr/>
        </p:nvSpPr>
        <p:spPr>
          <a:xfrm>
            <a:off x="1024128" y="1609344"/>
            <a:ext cx="7132320" cy="256032"/>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~108,000 rows · 12 stores · 5 categories · Jan–Jun 2026</a:t>
            </a:r>
            <a:endParaRPr lang="en-US" sz="1100" dirty="0"/>
          </a:p>
        </p:txBody>
      </p:sp>
      <p:sp>
        <p:nvSpPr>
          <p:cNvPr id="11" name="Shape 9"/>
          <p:cNvSpPr/>
          <p:nvPr/>
        </p:nvSpPr>
        <p:spPr>
          <a:xfrm>
            <a:off x="365760" y="2103120"/>
            <a:ext cx="8412480" cy="777240"/>
          </a:xfrm>
          <a:prstGeom prst="roundRect">
            <a:avLst>
              <a:gd name="adj" fmla="val 9412"/>
            </a:avLst>
          </a:prstGeom>
          <a:solidFill>
            <a:srgbClr val="F7F7F7"/>
          </a:solidFill>
          <a:ln w="12700">
            <a:solidFill>
              <a:srgbClr val="E0E0E0"/>
            </a:solidFill>
            <a:prstDash val="solid"/>
          </a:ln>
        </p:spPr>
      </p:sp>
      <p:sp>
        <p:nvSpPr>
          <p:cNvPr id="12" name="Text 10"/>
          <p:cNvSpPr/>
          <p:nvPr/>
        </p:nvSpPr>
        <p:spPr>
          <a:xfrm>
            <a:off x="502920" y="2194560"/>
            <a:ext cx="457200" cy="54864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13" name="Text 11"/>
          <p:cNvSpPr/>
          <p:nvPr/>
        </p:nvSpPr>
        <p:spPr>
          <a:xfrm>
            <a:off x="1024128" y="2176272"/>
            <a:ext cx="5303520" cy="292608"/>
          </a:xfrm>
          <a:prstGeom prst="rect">
            <a:avLst/>
          </a:prstGeom>
          <a:noFill/>
          <a:ln/>
        </p:spPr>
        <p:txBody>
          <a:bodyPr wrap="square" lIns="0" tIns="0" rIns="0" bIns="0" rtlCol="0" anchor="ctr"/>
          <a:lstStyle/>
          <a:p>
            <a:pPr indent="0" marL="0">
              <a:buNone/>
            </a:pPr>
            <a:r>
              <a:rPr lang="en-US" sz="1200" b="1" dirty="0">
                <a:solidFill>
                  <a:srgbClr val="1A3A5C"/>
                </a:solidFill>
                <a:latin typeface="Courier New" pitchFamily="34" charset="0"/>
                <a:ea typeface="Courier New" pitchFamily="34" charset="-122"/>
                <a:cs typeface="Courier New" pitchFamily="34" charset="-120"/>
              </a:rPr>
              <a:t>MUC01_Weekly_Sales_API_Response.json</a:t>
            </a:r>
            <a:endParaRPr lang="en-US" sz="1200" dirty="0"/>
          </a:p>
        </p:txBody>
      </p:sp>
      <p:sp>
        <p:nvSpPr>
          <p:cNvPr id="14" name="Shape 12"/>
          <p:cNvSpPr/>
          <p:nvPr/>
        </p:nvSpPr>
        <p:spPr>
          <a:xfrm>
            <a:off x="6492240" y="2176272"/>
            <a:ext cx="1371600" cy="347472"/>
          </a:xfrm>
          <a:prstGeom prst="roundRect">
            <a:avLst>
              <a:gd name="adj" fmla="val 15789"/>
            </a:avLst>
          </a:prstGeom>
          <a:solidFill>
            <a:srgbClr val="1D6A5C"/>
          </a:solidFill>
          <a:ln/>
        </p:spPr>
      </p:sp>
      <p:sp>
        <p:nvSpPr>
          <p:cNvPr id="15" name="Text 13"/>
          <p:cNvSpPr/>
          <p:nvPr/>
        </p:nvSpPr>
        <p:spPr>
          <a:xfrm>
            <a:off x="6492240" y="2176272"/>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2</a:t>
            </a:r>
            <a:endParaRPr lang="en-US" sz="1100" dirty="0"/>
          </a:p>
        </p:txBody>
      </p:sp>
      <p:sp>
        <p:nvSpPr>
          <p:cNvPr id="16" name="Text 14"/>
          <p:cNvSpPr/>
          <p:nvPr/>
        </p:nvSpPr>
        <p:spPr>
          <a:xfrm>
            <a:off x="1024128" y="2505456"/>
            <a:ext cx="7132320" cy="256032"/>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4,291 records · Jun 24–30 · Clean — mimics a real retail API response</a:t>
            </a:r>
            <a:endParaRPr lang="en-US" sz="1100" dirty="0"/>
          </a:p>
        </p:txBody>
      </p:sp>
      <p:sp>
        <p:nvSpPr>
          <p:cNvPr id="17" name="Shape 15"/>
          <p:cNvSpPr/>
          <p:nvPr/>
        </p:nvSpPr>
        <p:spPr>
          <a:xfrm>
            <a:off x="365760" y="2999232"/>
            <a:ext cx="8412480" cy="777240"/>
          </a:xfrm>
          <a:prstGeom prst="roundRect">
            <a:avLst>
              <a:gd name="adj" fmla="val 9412"/>
            </a:avLst>
          </a:prstGeom>
          <a:solidFill>
            <a:srgbClr val="EEF4FB"/>
          </a:solidFill>
          <a:ln w="12700">
            <a:solidFill>
              <a:srgbClr val="E0E0E0"/>
            </a:solidFill>
            <a:prstDash val="solid"/>
          </a:ln>
        </p:spPr>
      </p:sp>
      <p:sp>
        <p:nvSpPr>
          <p:cNvPr id="18" name="Text 16"/>
          <p:cNvSpPr/>
          <p:nvPr/>
        </p:nvSpPr>
        <p:spPr>
          <a:xfrm>
            <a:off x="502920" y="3090672"/>
            <a:ext cx="457200" cy="54864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19" name="Text 17"/>
          <p:cNvSpPr/>
          <p:nvPr/>
        </p:nvSpPr>
        <p:spPr>
          <a:xfrm>
            <a:off x="1024128" y="3072384"/>
            <a:ext cx="5303520" cy="292608"/>
          </a:xfrm>
          <a:prstGeom prst="rect">
            <a:avLst/>
          </a:prstGeom>
          <a:noFill/>
          <a:ln/>
        </p:spPr>
        <p:txBody>
          <a:bodyPr wrap="square" lIns="0" tIns="0" rIns="0" bIns="0" rtlCol="0" anchor="ctr"/>
          <a:lstStyle/>
          <a:p>
            <a:pPr indent="0" marL="0">
              <a:buNone/>
            </a:pPr>
            <a:r>
              <a:rPr lang="en-US" sz="1200" b="1" dirty="0">
                <a:solidFill>
                  <a:srgbClr val="1A3A5C"/>
                </a:solidFill>
                <a:latin typeface="Courier New" pitchFamily="34" charset="0"/>
                <a:ea typeface="Courier New" pitchFamily="34" charset="-122"/>
                <a:cs typeface="Courier New" pitchFamily="34" charset="-120"/>
              </a:rPr>
              <a:t>MUC01_Weekly_Sales_API_Corrupt.json</a:t>
            </a:r>
            <a:endParaRPr lang="en-US" sz="1200" dirty="0"/>
          </a:p>
        </p:txBody>
      </p:sp>
      <p:sp>
        <p:nvSpPr>
          <p:cNvPr id="20" name="Shape 18"/>
          <p:cNvSpPr/>
          <p:nvPr/>
        </p:nvSpPr>
        <p:spPr>
          <a:xfrm>
            <a:off x="6492240" y="3072384"/>
            <a:ext cx="1371600" cy="347472"/>
          </a:xfrm>
          <a:prstGeom prst="roundRect">
            <a:avLst>
              <a:gd name="adj" fmla="val 15789"/>
            </a:avLst>
          </a:prstGeom>
          <a:solidFill>
            <a:srgbClr val="1D6A5C"/>
          </a:solidFill>
          <a:ln/>
        </p:spPr>
      </p:sp>
      <p:sp>
        <p:nvSpPr>
          <p:cNvPr id="21" name="Text 19"/>
          <p:cNvSpPr/>
          <p:nvPr/>
        </p:nvSpPr>
        <p:spPr>
          <a:xfrm>
            <a:off x="6492240" y="3072384"/>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 2</a:t>
            </a:r>
            <a:endParaRPr lang="en-US" sz="1100" dirty="0"/>
          </a:p>
        </p:txBody>
      </p:sp>
      <p:sp>
        <p:nvSpPr>
          <p:cNvPr id="22" name="Text 20"/>
          <p:cNvSpPr/>
          <p:nvPr/>
        </p:nvSpPr>
        <p:spPr>
          <a:xfrm>
            <a:off x="1024128" y="3401568"/>
            <a:ext cx="7132320" cy="256032"/>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Same data · 3 deliberate issues introduced for the validation exercise</a:t>
            </a:r>
            <a:endParaRPr lang="en-US" sz="1100" dirty="0"/>
          </a:p>
        </p:txBody>
      </p:sp>
      <p:sp>
        <p:nvSpPr>
          <p:cNvPr id="23" name="Shape 21"/>
          <p:cNvSpPr/>
          <p:nvPr/>
        </p:nvSpPr>
        <p:spPr>
          <a:xfrm>
            <a:off x="365760" y="3895344"/>
            <a:ext cx="8412480" cy="777240"/>
          </a:xfrm>
          <a:prstGeom prst="roundRect">
            <a:avLst>
              <a:gd name="adj" fmla="val 9412"/>
            </a:avLst>
          </a:prstGeom>
          <a:solidFill>
            <a:srgbClr val="F7F7F7"/>
          </a:solidFill>
          <a:ln w="12700">
            <a:solidFill>
              <a:srgbClr val="E0E0E0"/>
            </a:solidFill>
            <a:prstDash val="solid"/>
          </a:ln>
        </p:spPr>
      </p:sp>
      <p:sp>
        <p:nvSpPr>
          <p:cNvPr id="24" name="Text 22"/>
          <p:cNvSpPr/>
          <p:nvPr/>
        </p:nvSpPr>
        <p:spPr>
          <a:xfrm>
            <a:off x="502920" y="3986784"/>
            <a:ext cx="457200" cy="548640"/>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25" name="Text 23"/>
          <p:cNvSpPr/>
          <p:nvPr/>
        </p:nvSpPr>
        <p:spPr>
          <a:xfrm>
            <a:off x="1024128" y="3968496"/>
            <a:ext cx="5303520" cy="292608"/>
          </a:xfrm>
          <a:prstGeom prst="rect">
            <a:avLst/>
          </a:prstGeom>
          <a:noFill/>
          <a:ln/>
        </p:spPr>
        <p:txBody>
          <a:bodyPr wrap="square" lIns="0" tIns="0" rIns="0" bIns="0" rtlCol="0" anchor="ctr"/>
          <a:lstStyle/>
          <a:p>
            <a:pPr indent="0" marL="0">
              <a:buNone/>
            </a:pPr>
            <a:r>
              <a:rPr lang="en-US" sz="1200" b="1" dirty="0">
                <a:solidFill>
                  <a:srgbClr val="1A3A5C"/>
                </a:solidFill>
                <a:latin typeface="Courier New" pitchFamily="34" charset="0"/>
                <a:ea typeface="Courier New" pitchFamily="34" charset="-122"/>
                <a:cs typeface="Courier New" pitchFamily="34" charset="-120"/>
              </a:rPr>
              <a:t>MUC01_Retail_Sales_Pulse_EDA.docx</a:t>
            </a:r>
            <a:endParaRPr lang="en-US" sz="1200" dirty="0"/>
          </a:p>
        </p:txBody>
      </p:sp>
      <p:sp>
        <p:nvSpPr>
          <p:cNvPr id="26" name="Shape 24"/>
          <p:cNvSpPr/>
          <p:nvPr/>
        </p:nvSpPr>
        <p:spPr>
          <a:xfrm>
            <a:off x="6492240" y="3968496"/>
            <a:ext cx="1371600" cy="347472"/>
          </a:xfrm>
          <a:prstGeom prst="roundRect">
            <a:avLst>
              <a:gd name="adj" fmla="val 15789"/>
            </a:avLst>
          </a:prstGeom>
          <a:solidFill>
            <a:srgbClr val="888888"/>
          </a:solidFill>
          <a:ln/>
        </p:spPr>
      </p:sp>
      <p:sp>
        <p:nvSpPr>
          <p:cNvPr id="27" name="Text 25"/>
          <p:cNvSpPr/>
          <p:nvPr/>
        </p:nvSpPr>
        <p:spPr>
          <a:xfrm>
            <a:off x="6492240" y="3968496"/>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Reference</a:t>
            </a:r>
            <a:endParaRPr lang="en-US" sz="1100" dirty="0"/>
          </a:p>
        </p:txBody>
      </p:sp>
      <p:sp>
        <p:nvSpPr>
          <p:cNvPr id="28" name="Text 26"/>
          <p:cNvSpPr/>
          <p:nvPr/>
        </p:nvSpPr>
        <p:spPr>
          <a:xfrm>
            <a:off x="1024128" y="4297680"/>
            <a:ext cx="7132320" cy="256032"/>
          </a:xfrm>
          <a:prstGeom prst="rect">
            <a:avLst/>
          </a:prstGeom>
          <a:noFill/>
          <a:ln/>
        </p:spPr>
        <p:txBody>
          <a:bodyPr wrap="square" lIns="0" tIns="0" rIns="0" bIns="0" rtlCol="0" anchor="ctr"/>
          <a:lstStyle/>
          <a:p>
            <a:pPr indent="0" marL="0">
              <a:buNone/>
            </a:pPr>
            <a:r>
              <a:rPr lang="en-US" sz="1100" dirty="0">
                <a:solidFill>
                  <a:srgbClr val="888888"/>
                </a:solidFill>
                <a:latin typeface="Calibri" pitchFamily="34" charset="0"/>
                <a:ea typeface="Calibri" pitchFamily="34" charset="-122"/>
                <a:cs typeface="Calibri" pitchFamily="34" charset="-120"/>
              </a:rPr>
              <a:t>The full use case document — all instructions, deliverables, checklists</a:t>
            </a:r>
            <a:endParaRPr lang="en-US" sz="1100" dirty="0"/>
          </a:p>
        </p:txBody>
      </p:sp>
      <p:sp>
        <p:nvSpPr>
          <p:cNvPr id="29" name="Shape 27"/>
          <p:cNvSpPr/>
          <p:nvPr/>
        </p:nvSpPr>
        <p:spPr>
          <a:xfrm>
            <a:off x="365760" y="4645152"/>
            <a:ext cx="8412480" cy="201168"/>
          </a:xfrm>
          <a:prstGeom prst="roundRect">
            <a:avLst>
              <a:gd name="adj" fmla="val 22727"/>
            </a:avLst>
          </a:prstGeom>
          <a:solidFill>
            <a:srgbClr val="FEF3DC"/>
          </a:solidFill>
          <a:ln w="12700">
            <a:solidFill>
              <a:srgbClr val="C8860A"/>
            </a:solidFill>
            <a:prstDash val="solid"/>
          </a:ln>
        </p:spPr>
      </p:sp>
      <p:sp>
        <p:nvSpPr>
          <p:cNvPr id="30" name="Text 28"/>
          <p:cNvSpPr/>
          <p:nvPr/>
        </p:nvSpPr>
        <p:spPr>
          <a:xfrm>
            <a:off x="502920" y="4645152"/>
            <a:ext cx="8229600" cy="201168"/>
          </a:xfrm>
          <a:prstGeom prst="rect">
            <a:avLst/>
          </a:prstGeom>
          <a:noFill/>
          <a:ln/>
        </p:spPr>
        <p:txBody>
          <a:bodyPr wrap="square" lIns="0" tIns="0" rIns="0" bIns="0" rtlCol="0" anchor="ctr"/>
          <a:lstStyle/>
          <a:p>
            <a:pPr indent="0" marL="0">
              <a:buNone/>
            </a:pPr>
            <a:r>
              <a:rPr lang="en-US" sz="1100" b="1" dirty="0">
                <a:solidFill>
                  <a:srgbClr val="C8860A"/>
                </a:solidFill>
                <a:latin typeface="Calibri" pitchFamily="34" charset="0"/>
                <a:ea typeface="Calibri" pitchFamily="34" charset="-122"/>
                <a:cs typeface="Calibri" pitchFamily="34" charset="-120"/>
              </a:rPr>
              <a:t>All files go in the same folder as the student's Jupyter Notebook before they start.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A3A5C"/>
                </a:solidFill>
                <a:latin typeface="Calibri" pitchFamily="34" charset="0"/>
                <a:ea typeface="Calibri" pitchFamily="34" charset="-122"/>
                <a:cs typeface="Calibri" pitchFamily="34" charset="-120"/>
              </a:rPr>
              <a:t>What good work looks like</a:t>
            </a:r>
            <a:endParaRPr lang="en-US" sz="2600" dirty="0"/>
          </a:p>
        </p:txBody>
      </p:sp>
      <p:sp>
        <p:nvSpPr>
          <p:cNvPr id="3" name="Text 1"/>
          <p:cNvSpPr/>
          <p:nvPr/>
        </p:nvSpPr>
        <p:spPr>
          <a:xfrm>
            <a:off x="457200" y="804672"/>
            <a:ext cx="8229600" cy="320040"/>
          </a:xfrm>
          <a:prstGeom prst="rect">
            <a:avLst/>
          </a:prstGeom>
          <a:noFill/>
          <a:ln/>
        </p:spPr>
        <p:txBody>
          <a:bodyPr wrap="square" lIns="0" tIns="0" rIns="0" bIns="0" rtlCol="0" anchor="ctr"/>
          <a:lstStyle/>
          <a:p>
            <a:pPr indent="0" marL="0">
              <a:buNone/>
            </a:pPr>
            <a:r>
              <a:rPr lang="en-US" sz="1400" i="1" dirty="0">
                <a:solidFill>
                  <a:srgbClr val="888888"/>
                </a:solidFill>
                <a:latin typeface="Calibri" pitchFamily="34" charset="0"/>
                <a:ea typeface="Calibri" pitchFamily="34" charset="-122"/>
                <a:cs typeface="Calibri" pitchFamily="34" charset="-120"/>
              </a:rPr>
              <a:t>The difference between passing and standing out</a:t>
            </a:r>
            <a:endParaRPr lang="en-US" sz="1400" dirty="0"/>
          </a:p>
        </p:txBody>
      </p:sp>
      <p:sp>
        <p:nvSpPr>
          <p:cNvPr id="4" name="Shape 2"/>
          <p:cNvSpPr/>
          <p:nvPr/>
        </p:nvSpPr>
        <p:spPr>
          <a:xfrm>
            <a:off x="0" y="4892040"/>
            <a:ext cx="9144000" cy="137160"/>
          </a:xfrm>
          <a:prstGeom prst="rect">
            <a:avLst/>
          </a:prstGeom>
          <a:solidFill>
            <a:srgbClr val="2C5F8A"/>
          </a:solidFill>
          <a:ln/>
        </p:spPr>
      </p:sp>
      <p:sp>
        <p:nvSpPr>
          <p:cNvPr id="5" name="Shape 3"/>
          <p:cNvSpPr/>
          <p:nvPr/>
        </p:nvSpPr>
        <p:spPr>
          <a:xfrm>
            <a:off x="365760" y="1207008"/>
            <a:ext cx="1371600" cy="347472"/>
          </a:xfrm>
          <a:prstGeom prst="roundRect">
            <a:avLst>
              <a:gd name="adj" fmla="val 15789"/>
            </a:avLst>
          </a:prstGeom>
          <a:solidFill>
            <a:srgbClr val="1A3A5C"/>
          </a:solidFill>
          <a:ln/>
        </p:spPr>
      </p:sp>
      <p:sp>
        <p:nvSpPr>
          <p:cNvPr id="6" name="Text 4"/>
          <p:cNvSpPr/>
          <p:nvPr/>
        </p:nvSpPr>
        <p:spPr>
          <a:xfrm>
            <a:off x="365760" y="1207008"/>
            <a:ext cx="13716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Area</a:t>
            </a:r>
            <a:endParaRPr lang="en-US" sz="1100" dirty="0"/>
          </a:p>
        </p:txBody>
      </p:sp>
      <p:sp>
        <p:nvSpPr>
          <p:cNvPr id="7" name="Shape 5"/>
          <p:cNvSpPr/>
          <p:nvPr/>
        </p:nvSpPr>
        <p:spPr>
          <a:xfrm>
            <a:off x="1874520" y="1207008"/>
            <a:ext cx="3200400" cy="347472"/>
          </a:xfrm>
          <a:prstGeom prst="roundRect">
            <a:avLst>
              <a:gd name="adj" fmla="val 15789"/>
            </a:avLst>
          </a:prstGeom>
          <a:solidFill>
            <a:srgbClr val="B33A2A"/>
          </a:solidFill>
          <a:ln/>
        </p:spPr>
      </p:sp>
      <p:sp>
        <p:nvSpPr>
          <p:cNvPr id="8" name="Text 6"/>
          <p:cNvSpPr/>
          <p:nvPr/>
        </p:nvSpPr>
        <p:spPr>
          <a:xfrm>
            <a:off x="1874520" y="1207008"/>
            <a:ext cx="320040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What we often see</a:t>
            </a:r>
            <a:endParaRPr lang="en-US" sz="1100" dirty="0"/>
          </a:p>
        </p:txBody>
      </p:sp>
      <p:sp>
        <p:nvSpPr>
          <p:cNvPr id="9" name="Shape 7"/>
          <p:cNvSpPr/>
          <p:nvPr/>
        </p:nvSpPr>
        <p:spPr>
          <a:xfrm>
            <a:off x="5212080" y="1207008"/>
            <a:ext cx="3566160" cy="347472"/>
          </a:xfrm>
          <a:prstGeom prst="roundRect">
            <a:avLst>
              <a:gd name="adj" fmla="val 15789"/>
            </a:avLst>
          </a:prstGeom>
          <a:solidFill>
            <a:srgbClr val="1D6A5C"/>
          </a:solidFill>
          <a:ln/>
        </p:spPr>
      </p:sp>
      <p:sp>
        <p:nvSpPr>
          <p:cNvPr id="10" name="Text 8"/>
          <p:cNvSpPr/>
          <p:nvPr/>
        </p:nvSpPr>
        <p:spPr>
          <a:xfrm>
            <a:off x="5212080" y="1207008"/>
            <a:ext cx="356616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What we want to see</a:t>
            </a:r>
            <a:endParaRPr lang="en-US" sz="1100" dirty="0"/>
          </a:p>
        </p:txBody>
      </p:sp>
      <p:sp>
        <p:nvSpPr>
          <p:cNvPr id="11" name="Shape 9"/>
          <p:cNvSpPr/>
          <p:nvPr/>
        </p:nvSpPr>
        <p:spPr>
          <a:xfrm>
            <a:off x="365760" y="1691640"/>
            <a:ext cx="1371600" cy="530352"/>
          </a:xfrm>
          <a:prstGeom prst="rect">
            <a:avLst/>
          </a:prstGeom>
          <a:solidFill>
            <a:srgbClr val="F7F7F7"/>
          </a:solidFill>
          <a:ln w="12700">
            <a:solidFill>
              <a:srgbClr val="E0E0E0"/>
            </a:solidFill>
            <a:prstDash val="solid"/>
          </a:ln>
        </p:spPr>
      </p:sp>
      <p:sp>
        <p:nvSpPr>
          <p:cNvPr id="12" name="Text 10"/>
          <p:cNvSpPr/>
          <p:nvPr/>
        </p:nvSpPr>
        <p:spPr>
          <a:xfrm>
            <a:off x="365760" y="1691640"/>
            <a:ext cx="1371600" cy="530352"/>
          </a:xfrm>
          <a:prstGeom prst="rect">
            <a:avLst/>
          </a:prstGeom>
          <a:noFill/>
          <a:ln/>
        </p:spPr>
        <p:txBody>
          <a:bodyPr wrap="square" lIns="50800" tIns="50800" rIns="50800" bIns="50800" rtlCol="0" anchor="ctr"/>
          <a:lstStyle/>
          <a:p>
            <a:pPr algn="ctr" indent="0" marL="0">
              <a:buNone/>
            </a:pPr>
            <a:r>
              <a:rPr lang="en-US" sz="1100" b="1" dirty="0">
                <a:solidFill>
                  <a:srgbClr val="1A3A5C"/>
                </a:solidFill>
                <a:latin typeface="Calibri" pitchFamily="34" charset="0"/>
                <a:ea typeface="Calibri" pitchFamily="34" charset="-122"/>
                <a:cs typeface="Calibri" pitchFamily="34" charset="-120"/>
              </a:rPr>
              <a:t>Charts</a:t>
            </a:r>
            <a:endParaRPr lang="en-US" sz="1100" dirty="0"/>
          </a:p>
        </p:txBody>
      </p:sp>
      <p:sp>
        <p:nvSpPr>
          <p:cNvPr id="13" name="Shape 11"/>
          <p:cNvSpPr/>
          <p:nvPr/>
        </p:nvSpPr>
        <p:spPr>
          <a:xfrm>
            <a:off x="1874520" y="1691640"/>
            <a:ext cx="3200400" cy="530352"/>
          </a:xfrm>
          <a:prstGeom prst="rect">
            <a:avLst/>
          </a:prstGeom>
          <a:solidFill>
            <a:srgbClr val="FDECEA"/>
          </a:solidFill>
          <a:ln w="12700">
            <a:solidFill>
              <a:srgbClr val="E0E0E0"/>
            </a:solidFill>
            <a:prstDash val="solid"/>
          </a:ln>
        </p:spPr>
      </p:sp>
      <p:sp>
        <p:nvSpPr>
          <p:cNvPr id="14" name="Text 12"/>
          <p:cNvSpPr/>
          <p:nvPr/>
        </p:nvSpPr>
        <p:spPr>
          <a:xfrm>
            <a:off x="1938528" y="1728216"/>
            <a:ext cx="3072384" cy="457200"/>
          </a:xfrm>
          <a:prstGeom prst="rect">
            <a:avLst/>
          </a:prstGeom>
          <a:noFill/>
          <a:ln/>
        </p:spPr>
        <p:txBody>
          <a:bodyPr wrap="square" lIns="0" tIns="0" rIns="0" bIns="0" rtlCol="0" anchor="ctr"/>
          <a:lstStyle/>
          <a:p>
            <a:pPr indent="0" marL="0">
              <a:lnSpc>
                <a:spcPct val="125000"/>
              </a:lnSpc>
              <a:buNone/>
            </a:pPr>
            <a:r>
              <a:rPr lang="en-US" sz="1050" dirty="0">
                <a:solidFill>
                  <a:srgbClr val="6B1A0E"/>
                </a:solidFill>
                <a:latin typeface="Calibri" pitchFamily="34" charset="0"/>
                <a:ea typeface="Calibri" pitchFamily="34" charset="-122"/>
                <a:cs typeface="Calibri" pitchFamily="34" charset="-120"/>
              </a:rPr>
              <a:t>Axis labels say 'store_id' and 'revenue'</a:t>
            </a:r>
            <a:endParaRPr lang="en-US" sz="1050" dirty="0"/>
          </a:p>
        </p:txBody>
      </p:sp>
      <p:sp>
        <p:nvSpPr>
          <p:cNvPr id="15" name="Shape 13"/>
          <p:cNvSpPr/>
          <p:nvPr/>
        </p:nvSpPr>
        <p:spPr>
          <a:xfrm>
            <a:off x="5212080" y="1691640"/>
            <a:ext cx="3566160" cy="530352"/>
          </a:xfrm>
          <a:prstGeom prst="rect">
            <a:avLst/>
          </a:prstGeom>
          <a:solidFill>
            <a:srgbClr val="E8F5F2"/>
          </a:solidFill>
          <a:ln w="12700">
            <a:solidFill>
              <a:srgbClr val="E0E0E0"/>
            </a:solidFill>
            <a:prstDash val="solid"/>
          </a:ln>
        </p:spPr>
      </p:sp>
      <p:sp>
        <p:nvSpPr>
          <p:cNvPr id="16" name="Text 14"/>
          <p:cNvSpPr/>
          <p:nvPr/>
        </p:nvSpPr>
        <p:spPr>
          <a:xfrm>
            <a:off x="5276088" y="1728216"/>
            <a:ext cx="3438144" cy="457200"/>
          </a:xfrm>
          <a:prstGeom prst="rect">
            <a:avLst/>
          </a:prstGeom>
          <a:noFill/>
          <a:ln/>
        </p:spPr>
        <p:txBody>
          <a:bodyPr wrap="square" lIns="0" tIns="0" rIns="0" bIns="0" rtlCol="0" anchor="ctr"/>
          <a:lstStyle/>
          <a:p>
            <a:pPr indent="0" marL="0">
              <a:lnSpc>
                <a:spcPct val="125000"/>
              </a:lnSpc>
              <a:buNone/>
            </a:pPr>
            <a:r>
              <a:rPr lang="en-US" sz="1050" dirty="0">
                <a:solidFill>
                  <a:srgbClr val="0F3D32"/>
                </a:solidFill>
                <a:latin typeface="Calibri" pitchFamily="34" charset="0"/>
                <a:ea typeface="Calibri" pitchFamily="34" charset="-122"/>
                <a:cs typeface="Calibri" pitchFamily="34" charset="-120"/>
              </a:rPr>
              <a:t>Axis labels say 'Store' and 'Total Revenue (₹)'</a:t>
            </a:r>
            <a:endParaRPr lang="en-US" sz="1050" dirty="0"/>
          </a:p>
        </p:txBody>
      </p:sp>
      <p:sp>
        <p:nvSpPr>
          <p:cNvPr id="17" name="Shape 15"/>
          <p:cNvSpPr/>
          <p:nvPr/>
        </p:nvSpPr>
        <p:spPr>
          <a:xfrm>
            <a:off x="365760" y="2304288"/>
            <a:ext cx="1371600" cy="530352"/>
          </a:xfrm>
          <a:prstGeom prst="rect">
            <a:avLst/>
          </a:prstGeom>
          <a:solidFill>
            <a:srgbClr val="FFFFFF"/>
          </a:solidFill>
          <a:ln w="12700">
            <a:solidFill>
              <a:srgbClr val="E0E0E0"/>
            </a:solidFill>
            <a:prstDash val="solid"/>
          </a:ln>
        </p:spPr>
      </p:sp>
      <p:sp>
        <p:nvSpPr>
          <p:cNvPr id="18" name="Text 16"/>
          <p:cNvSpPr/>
          <p:nvPr/>
        </p:nvSpPr>
        <p:spPr>
          <a:xfrm>
            <a:off x="365760" y="2304288"/>
            <a:ext cx="1371600" cy="530352"/>
          </a:xfrm>
          <a:prstGeom prst="rect">
            <a:avLst/>
          </a:prstGeom>
          <a:noFill/>
          <a:ln/>
        </p:spPr>
        <p:txBody>
          <a:bodyPr wrap="square" lIns="50800" tIns="50800" rIns="50800" bIns="50800" rtlCol="0" anchor="ctr"/>
          <a:lstStyle/>
          <a:p>
            <a:pPr algn="ctr" indent="0" marL="0">
              <a:buNone/>
            </a:pPr>
            <a:r>
              <a:rPr lang="en-US" sz="1100" b="1" dirty="0">
                <a:solidFill>
                  <a:srgbClr val="1A3A5C"/>
                </a:solidFill>
                <a:latin typeface="Calibri" pitchFamily="34" charset="0"/>
                <a:ea typeface="Calibri" pitchFamily="34" charset="-122"/>
                <a:cs typeface="Calibri" pitchFamily="34" charset="-120"/>
              </a:rPr>
              <a:t>Markdown</a:t>
            </a:r>
            <a:endParaRPr lang="en-US" sz="1100" dirty="0"/>
          </a:p>
        </p:txBody>
      </p:sp>
      <p:sp>
        <p:nvSpPr>
          <p:cNvPr id="19" name="Shape 17"/>
          <p:cNvSpPr/>
          <p:nvPr/>
        </p:nvSpPr>
        <p:spPr>
          <a:xfrm>
            <a:off x="1874520" y="2304288"/>
            <a:ext cx="3200400" cy="530352"/>
          </a:xfrm>
          <a:prstGeom prst="rect">
            <a:avLst/>
          </a:prstGeom>
          <a:solidFill>
            <a:srgbClr val="FDECEA"/>
          </a:solidFill>
          <a:ln w="12700">
            <a:solidFill>
              <a:srgbClr val="E0E0E0"/>
            </a:solidFill>
            <a:prstDash val="solid"/>
          </a:ln>
        </p:spPr>
      </p:sp>
      <p:sp>
        <p:nvSpPr>
          <p:cNvPr id="20" name="Text 18"/>
          <p:cNvSpPr/>
          <p:nvPr/>
        </p:nvSpPr>
        <p:spPr>
          <a:xfrm>
            <a:off x="1938528" y="2340864"/>
            <a:ext cx="3072384" cy="457200"/>
          </a:xfrm>
          <a:prstGeom prst="rect">
            <a:avLst/>
          </a:prstGeom>
          <a:noFill/>
          <a:ln/>
        </p:spPr>
        <p:txBody>
          <a:bodyPr wrap="square" lIns="0" tIns="0" rIns="0" bIns="0" rtlCol="0" anchor="ctr"/>
          <a:lstStyle/>
          <a:p>
            <a:pPr indent="0" marL="0">
              <a:lnSpc>
                <a:spcPct val="125000"/>
              </a:lnSpc>
              <a:buNone/>
            </a:pPr>
            <a:r>
              <a:rPr lang="en-US" sz="1050" dirty="0">
                <a:solidFill>
                  <a:srgbClr val="6B1A0E"/>
                </a:solidFill>
                <a:latin typeface="Calibri" pitchFamily="34" charset="0"/>
                <a:ea typeface="Calibri" pitchFamily="34" charset="-122"/>
                <a:cs typeface="Calibri" pitchFamily="34" charset="-120"/>
              </a:rPr>
              <a:t>"The chart shows S01 has the highest revenue"</a:t>
            </a:r>
            <a:endParaRPr lang="en-US" sz="1050" dirty="0"/>
          </a:p>
        </p:txBody>
      </p:sp>
      <p:sp>
        <p:nvSpPr>
          <p:cNvPr id="21" name="Shape 19"/>
          <p:cNvSpPr/>
          <p:nvPr/>
        </p:nvSpPr>
        <p:spPr>
          <a:xfrm>
            <a:off x="5212080" y="2304288"/>
            <a:ext cx="3566160" cy="530352"/>
          </a:xfrm>
          <a:prstGeom prst="rect">
            <a:avLst/>
          </a:prstGeom>
          <a:solidFill>
            <a:srgbClr val="E8F5F2"/>
          </a:solidFill>
          <a:ln w="12700">
            <a:solidFill>
              <a:srgbClr val="E0E0E0"/>
            </a:solidFill>
            <a:prstDash val="solid"/>
          </a:ln>
        </p:spPr>
      </p:sp>
      <p:sp>
        <p:nvSpPr>
          <p:cNvPr id="22" name="Text 20"/>
          <p:cNvSpPr/>
          <p:nvPr/>
        </p:nvSpPr>
        <p:spPr>
          <a:xfrm>
            <a:off x="5276088" y="2340864"/>
            <a:ext cx="3438144" cy="457200"/>
          </a:xfrm>
          <a:prstGeom prst="rect">
            <a:avLst/>
          </a:prstGeom>
          <a:noFill/>
          <a:ln/>
        </p:spPr>
        <p:txBody>
          <a:bodyPr wrap="square" lIns="0" tIns="0" rIns="0" bIns="0" rtlCol="0" anchor="ctr"/>
          <a:lstStyle/>
          <a:p>
            <a:pPr indent="0" marL="0">
              <a:lnSpc>
                <a:spcPct val="125000"/>
              </a:lnSpc>
              <a:buNone/>
            </a:pPr>
            <a:r>
              <a:rPr lang="en-US" sz="1050" dirty="0">
                <a:solidFill>
                  <a:srgbClr val="0F3D32"/>
                </a:solidFill>
                <a:latin typeface="Calibri" pitchFamily="34" charset="0"/>
                <a:ea typeface="Calibri" pitchFamily="34" charset="-122"/>
                <a:cs typeface="Calibri" pitchFamily="34" charset="-120"/>
              </a:rPr>
              <a:t>"S01 is 45% above the chain average — the gap suggests a structural advantage, possibly footfall or category mix"</a:t>
            </a:r>
            <a:endParaRPr lang="en-US" sz="1050" dirty="0"/>
          </a:p>
        </p:txBody>
      </p:sp>
      <p:sp>
        <p:nvSpPr>
          <p:cNvPr id="23" name="Shape 21"/>
          <p:cNvSpPr/>
          <p:nvPr/>
        </p:nvSpPr>
        <p:spPr>
          <a:xfrm>
            <a:off x="365760" y="2916936"/>
            <a:ext cx="1371600" cy="530352"/>
          </a:xfrm>
          <a:prstGeom prst="rect">
            <a:avLst/>
          </a:prstGeom>
          <a:solidFill>
            <a:srgbClr val="F7F7F7"/>
          </a:solidFill>
          <a:ln w="12700">
            <a:solidFill>
              <a:srgbClr val="E0E0E0"/>
            </a:solidFill>
            <a:prstDash val="solid"/>
          </a:ln>
        </p:spPr>
      </p:sp>
      <p:sp>
        <p:nvSpPr>
          <p:cNvPr id="24" name="Text 22"/>
          <p:cNvSpPr/>
          <p:nvPr/>
        </p:nvSpPr>
        <p:spPr>
          <a:xfrm>
            <a:off x="365760" y="2916936"/>
            <a:ext cx="1371600" cy="530352"/>
          </a:xfrm>
          <a:prstGeom prst="rect">
            <a:avLst/>
          </a:prstGeom>
          <a:noFill/>
          <a:ln/>
        </p:spPr>
        <p:txBody>
          <a:bodyPr wrap="square" lIns="50800" tIns="50800" rIns="50800" bIns="50800" rtlCol="0" anchor="ctr"/>
          <a:lstStyle/>
          <a:p>
            <a:pPr algn="ctr" indent="0" marL="0">
              <a:buNone/>
            </a:pPr>
            <a:r>
              <a:rPr lang="en-US" sz="1100" b="1" dirty="0">
                <a:solidFill>
                  <a:srgbClr val="1A3A5C"/>
                </a:solidFill>
                <a:latin typeface="Calibri" pitchFamily="34" charset="0"/>
                <a:ea typeface="Calibri" pitchFamily="34" charset="-122"/>
                <a:cs typeface="Calibri" pitchFamily="34" charset="-120"/>
              </a:rPr>
              <a:t>Recommendation</a:t>
            </a:r>
            <a:endParaRPr lang="en-US" sz="1100" dirty="0"/>
          </a:p>
        </p:txBody>
      </p:sp>
      <p:sp>
        <p:nvSpPr>
          <p:cNvPr id="25" name="Shape 23"/>
          <p:cNvSpPr/>
          <p:nvPr/>
        </p:nvSpPr>
        <p:spPr>
          <a:xfrm>
            <a:off x="1874520" y="2916936"/>
            <a:ext cx="3200400" cy="530352"/>
          </a:xfrm>
          <a:prstGeom prst="rect">
            <a:avLst/>
          </a:prstGeom>
          <a:solidFill>
            <a:srgbClr val="FDECEA"/>
          </a:solidFill>
          <a:ln w="12700">
            <a:solidFill>
              <a:srgbClr val="E0E0E0"/>
            </a:solidFill>
            <a:prstDash val="solid"/>
          </a:ln>
        </p:spPr>
      </p:sp>
      <p:sp>
        <p:nvSpPr>
          <p:cNvPr id="26" name="Text 24"/>
          <p:cNvSpPr/>
          <p:nvPr/>
        </p:nvSpPr>
        <p:spPr>
          <a:xfrm>
            <a:off x="1938528" y="2953512"/>
            <a:ext cx="3072384" cy="457200"/>
          </a:xfrm>
          <a:prstGeom prst="rect">
            <a:avLst/>
          </a:prstGeom>
          <a:noFill/>
          <a:ln/>
        </p:spPr>
        <p:txBody>
          <a:bodyPr wrap="square" lIns="0" tIns="0" rIns="0" bIns="0" rtlCol="0" anchor="ctr"/>
          <a:lstStyle/>
          <a:p>
            <a:pPr indent="0" marL="0">
              <a:lnSpc>
                <a:spcPct val="125000"/>
              </a:lnSpc>
              <a:buNone/>
            </a:pPr>
            <a:r>
              <a:rPr lang="en-US" sz="1050" dirty="0">
                <a:solidFill>
                  <a:srgbClr val="6B1A0E"/>
                </a:solidFill>
                <a:latin typeface="Calibri" pitchFamily="34" charset="0"/>
                <a:ea typeface="Calibri" pitchFamily="34" charset="-122"/>
                <a:cs typeface="Calibri" pitchFamily="34" charset="-120"/>
              </a:rPr>
              <a:t>"The company should improve underperforming stores"</a:t>
            </a:r>
            <a:endParaRPr lang="en-US" sz="1050" dirty="0"/>
          </a:p>
        </p:txBody>
      </p:sp>
      <p:sp>
        <p:nvSpPr>
          <p:cNvPr id="27" name="Shape 25"/>
          <p:cNvSpPr/>
          <p:nvPr/>
        </p:nvSpPr>
        <p:spPr>
          <a:xfrm>
            <a:off x="5212080" y="2916936"/>
            <a:ext cx="3566160" cy="530352"/>
          </a:xfrm>
          <a:prstGeom prst="rect">
            <a:avLst/>
          </a:prstGeom>
          <a:solidFill>
            <a:srgbClr val="E8F5F2"/>
          </a:solidFill>
          <a:ln w="12700">
            <a:solidFill>
              <a:srgbClr val="E0E0E0"/>
            </a:solidFill>
            <a:prstDash val="solid"/>
          </a:ln>
        </p:spPr>
      </p:sp>
      <p:sp>
        <p:nvSpPr>
          <p:cNvPr id="28" name="Text 26"/>
          <p:cNvSpPr/>
          <p:nvPr/>
        </p:nvSpPr>
        <p:spPr>
          <a:xfrm>
            <a:off x="5276088" y="2953512"/>
            <a:ext cx="3438144" cy="457200"/>
          </a:xfrm>
          <a:prstGeom prst="rect">
            <a:avLst/>
          </a:prstGeom>
          <a:noFill/>
          <a:ln/>
        </p:spPr>
        <p:txBody>
          <a:bodyPr wrap="square" lIns="0" tIns="0" rIns="0" bIns="0" rtlCol="0" anchor="ctr"/>
          <a:lstStyle/>
          <a:p>
            <a:pPr indent="0" marL="0">
              <a:lnSpc>
                <a:spcPct val="125000"/>
              </a:lnSpc>
              <a:buNone/>
            </a:pPr>
            <a:r>
              <a:rPr lang="en-US" sz="1050" dirty="0">
                <a:solidFill>
                  <a:srgbClr val="0F3D32"/>
                </a:solidFill>
                <a:latin typeface="Calibri" pitchFamily="34" charset="0"/>
                <a:ea typeface="Calibri" pitchFamily="34" charset="-122"/>
                <a:cs typeface="Calibri" pitchFamily="34" charset="-120"/>
              </a:rPr>
              <a:t>"S12 in Kakinada generated ₹21.9L over six months — 60% below S01. We recommend withholding Q3 promotional investment until a root cause is identified"</a:t>
            </a:r>
            <a:endParaRPr lang="en-US" sz="1050" dirty="0"/>
          </a:p>
        </p:txBody>
      </p:sp>
      <p:sp>
        <p:nvSpPr>
          <p:cNvPr id="29" name="Shape 27"/>
          <p:cNvSpPr/>
          <p:nvPr/>
        </p:nvSpPr>
        <p:spPr>
          <a:xfrm>
            <a:off x="365760" y="3529584"/>
            <a:ext cx="1371600" cy="530352"/>
          </a:xfrm>
          <a:prstGeom prst="rect">
            <a:avLst/>
          </a:prstGeom>
          <a:solidFill>
            <a:srgbClr val="FFFFFF"/>
          </a:solidFill>
          <a:ln w="12700">
            <a:solidFill>
              <a:srgbClr val="E0E0E0"/>
            </a:solidFill>
            <a:prstDash val="solid"/>
          </a:ln>
        </p:spPr>
      </p:sp>
      <p:sp>
        <p:nvSpPr>
          <p:cNvPr id="30" name="Text 28"/>
          <p:cNvSpPr/>
          <p:nvPr/>
        </p:nvSpPr>
        <p:spPr>
          <a:xfrm>
            <a:off x="365760" y="3529584"/>
            <a:ext cx="1371600" cy="530352"/>
          </a:xfrm>
          <a:prstGeom prst="rect">
            <a:avLst/>
          </a:prstGeom>
          <a:noFill/>
          <a:ln/>
        </p:spPr>
        <p:txBody>
          <a:bodyPr wrap="square" lIns="50800" tIns="50800" rIns="50800" bIns="50800" rtlCol="0" anchor="ctr"/>
          <a:lstStyle/>
          <a:p>
            <a:pPr algn="ctr" indent="0" marL="0">
              <a:buNone/>
            </a:pPr>
            <a:r>
              <a:rPr lang="en-US" sz="1100" b="1" dirty="0">
                <a:solidFill>
                  <a:srgbClr val="1A3A5C"/>
                </a:solidFill>
                <a:latin typeface="Calibri" pitchFamily="34" charset="0"/>
                <a:ea typeface="Calibri" pitchFamily="34" charset="-122"/>
                <a:cs typeface="Calibri" pitchFamily="34" charset="-120"/>
              </a:rPr>
              <a:t>Validation</a:t>
            </a:r>
            <a:endParaRPr lang="en-US" sz="1100" dirty="0"/>
          </a:p>
        </p:txBody>
      </p:sp>
      <p:sp>
        <p:nvSpPr>
          <p:cNvPr id="31" name="Shape 29"/>
          <p:cNvSpPr/>
          <p:nvPr/>
        </p:nvSpPr>
        <p:spPr>
          <a:xfrm>
            <a:off x="1874520" y="3529584"/>
            <a:ext cx="3200400" cy="530352"/>
          </a:xfrm>
          <a:prstGeom prst="rect">
            <a:avLst/>
          </a:prstGeom>
          <a:solidFill>
            <a:srgbClr val="FDECEA"/>
          </a:solidFill>
          <a:ln w="12700">
            <a:solidFill>
              <a:srgbClr val="E0E0E0"/>
            </a:solidFill>
            <a:prstDash val="solid"/>
          </a:ln>
        </p:spPr>
      </p:sp>
      <p:sp>
        <p:nvSpPr>
          <p:cNvPr id="32" name="Text 30"/>
          <p:cNvSpPr/>
          <p:nvPr/>
        </p:nvSpPr>
        <p:spPr>
          <a:xfrm>
            <a:off x="1938528" y="3566160"/>
            <a:ext cx="3072384" cy="457200"/>
          </a:xfrm>
          <a:prstGeom prst="rect">
            <a:avLst/>
          </a:prstGeom>
          <a:noFill/>
          <a:ln/>
        </p:spPr>
        <p:txBody>
          <a:bodyPr wrap="square" lIns="0" tIns="0" rIns="0" bIns="0" rtlCol="0" anchor="ctr"/>
          <a:lstStyle/>
          <a:p>
            <a:pPr indent="0" marL="0">
              <a:lnSpc>
                <a:spcPct val="125000"/>
              </a:lnSpc>
              <a:buNone/>
            </a:pPr>
            <a:r>
              <a:rPr lang="en-US" sz="1050" dirty="0">
                <a:solidFill>
                  <a:srgbClr val="6B1A0E"/>
                </a:solidFill>
                <a:latin typeface="Calibri" pitchFamily="34" charset="0"/>
                <a:ea typeface="Calibri" pitchFamily="34" charset="-122"/>
                <a:cs typeface="Calibri" pitchFamily="34" charset="-120"/>
              </a:rPr>
              <a:t>Finds 1 or 2 issues in the corrupt file</a:t>
            </a:r>
            <a:endParaRPr lang="en-US" sz="1050" dirty="0"/>
          </a:p>
        </p:txBody>
      </p:sp>
      <p:sp>
        <p:nvSpPr>
          <p:cNvPr id="33" name="Shape 31"/>
          <p:cNvSpPr/>
          <p:nvPr/>
        </p:nvSpPr>
        <p:spPr>
          <a:xfrm>
            <a:off x="5212080" y="3529584"/>
            <a:ext cx="3566160" cy="530352"/>
          </a:xfrm>
          <a:prstGeom prst="rect">
            <a:avLst/>
          </a:prstGeom>
          <a:solidFill>
            <a:srgbClr val="E8F5F2"/>
          </a:solidFill>
          <a:ln w="12700">
            <a:solidFill>
              <a:srgbClr val="E0E0E0"/>
            </a:solidFill>
            <a:prstDash val="solid"/>
          </a:ln>
        </p:spPr>
      </p:sp>
      <p:sp>
        <p:nvSpPr>
          <p:cNvPr id="34" name="Text 32"/>
          <p:cNvSpPr/>
          <p:nvPr/>
        </p:nvSpPr>
        <p:spPr>
          <a:xfrm>
            <a:off x="5276088" y="3566160"/>
            <a:ext cx="3438144" cy="457200"/>
          </a:xfrm>
          <a:prstGeom prst="rect">
            <a:avLst/>
          </a:prstGeom>
          <a:noFill/>
          <a:ln/>
        </p:spPr>
        <p:txBody>
          <a:bodyPr wrap="square" lIns="0" tIns="0" rIns="0" bIns="0" rtlCol="0" anchor="ctr"/>
          <a:lstStyle/>
          <a:p>
            <a:pPr indent="0" marL="0">
              <a:lnSpc>
                <a:spcPct val="125000"/>
              </a:lnSpc>
              <a:buNone/>
            </a:pPr>
            <a:r>
              <a:rPr lang="en-US" sz="1050" dirty="0">
                <a:solidFill>
                  <a:srgbClr val="0F3D32"/>
                </a:solidFill>
                <a:latin typeface="Calibri" pitchFamily="34" charset="0"/>
                <a:ea typeface="Calibri" pitchFamily="34" charset="-122"/>
                <a:cs typeface="Calibri" pitchFamily="34" charset="-120"/>
              </a:rPr>
              <a:t>Function catches all 3 — negative revenue, null units_sold, invalid store S99 — with a clear log message</a:t>
            </a:r>
            <a:endParaRPr lang="en-US" sz="1050" dirty="0"/>
          </a:p>
        </p:txBody>
      </p:sp>
      <p:sp>
        <p:nvSpPr>
          <p:cNvPr id="35" name="Shape 33"/>
          <p:cNvSpPr/>
          <p:nvPr/>
        </p:nvSpPr>
        <p:spPr>
          <a:xfrm>
            <a:off x="365760" y="4142232"/>
            <a:ext cx="1371600" cy="530352"/>
          </a:xfrm>
          <a:prstGeom prst="rect">
            <a:avLst/>
          </a:prstGeom>
          <a:solidFill>
            <a:srgbClr val="F7F7F7"/>
          </a:solidFill>
          <a:ln w="12700">
            <a:solidFill>
              <a:srgbClr val="E0E0E0"/>
            </a:solidFill>
            <a:prstDash val="solid"/>
          </a:ln>
        </p:spPr>
      </p:sp>
      <p:sp>
        <p:nvSpPr>
          <p:cNvPr id="36" name="Text 34"/>
          <p:cNvSpPr/>
          <p:nvPr/>
        </p:nvSpPr>
        <p:spPr>
          <a:xfrm>
            <a:off x="365760" y="4142232"/>
            <a:ext cx="1371600" cy="530352"/>
          </a:xfrm>
          <a:prstGeom prst="rect">
            <a:avLst/>
          </a:prstGeom>
          <a:noFill/>
          <a:ln/>
        </p:spPr>
        <p:txBody>
          <a:bodyPr wrap="square" lIns="50800" tIns="50800" rIns="50800" bIns="50800" rtlCol="0" anchor="ctr"/>
          <a:lstStyle/>
          <a:p>
            <a:pPr algn="ctr" indent="0" marL="0">
              <a:buNone/>
            </a:pPr>
            <a:r>
              <a:rPr lang="en-US" sz="1100" b="1" dirty="0">
                <a:solidFill>
                  <a:srgbClr val="1A3A5C"/>
                </a:solidFill>
                <a:latin typeface="Calibri" pitchFamily="34" charset="0"/>
                <a:ea typeface="Calibri" pitchFamily="34" charset="-122"/>
                <a:cs typeface="Calibri" pitchFamily="34" charset="-120"/>
              </a:rPr>
              <a:t>Pipeline link</a:t>
            </a:r>
            <a:endParaRPr lang="en-US" sz="1100" dirty="0"/>
          </a:p>
        </p:txBody>
      </p:sp>
      <p:sp>
        <p:nvSpPr>
          <p:cNvPr id="37" name="Shape 35"/>
          <p:cNvSpPr/>
          <p:nvPr/>
        </p:nvSpPr>
        <p:spPr>
          <a:xfrm>
            <a:off x="1874520" y="4142232"/>
            <a:ext cx="3200400" cy="530352"/>
          </a:xfrm>
          <a:prstGeom prst="rect">
            <a:avLst/>
          </a:prstGeom>
          <a:solidFill>
            <a:srgbClr val="FDECEA"/>
          </a:solidFill>
          <a:ln w="12700">
            <a:solidFill>
              <a:srgbClr val="E0E0E0"/>
            </a:solidFill>
            <a:prstDash val="solid"/>
          </a:ln>
        </p:spPr>
      </p:sp>
      <p:sp>
        <p:nvSpPr>
          <p:cNvPr id="38" name="Text 36"/>
          <p:cNvSpPr/>
          <p:nvPr/>
        </p:nvSpPr>
        <p:spPr>
          <a:xfrm>
            <a:off x="1938528" y="4178808"/>
            <a:ext cx="3072384" cy="457200"/>
          </a:xfrm>
          <a:prstGeom prst="rect">
            <a:avLst/>
          </a:prstGeom>
          <a:noFill/>
          <a:ln/>
        </p:spPr>
        <p:txBody>
          <a:bodyPr wrap="square" lIns="0" tIns="0" rIns="0" bIns="0" rtlCol="0" anchor="ctr"/>
          <a:lstStyle/>
          <a:p>
            <a:pPr indent="0" marL="0">
              <a:lnSpc>
                <a:spcPct val="125000"/>
              </a:lnSpc>
              <a:buNone/>
            </a:pPr>
            <a:r>
              <a:rPr lang="en-US" sz="1050" dirty="0">
                <a:solidFill>
                  <a:srgbClr val="6B1A0E"/>
                </a:solidFill>
                <a:latin typeface="Calibri" pitchFamily="34" charset="0"/>
                <a:ea typeface="Calibri" pitchFamily="34" charset="-122"/>
                <a:cs typeface="Calibri" pitchFamily="34" charset="-120"/>
              </a:rPr>
              <a:t>Category alert computed from the weekly JSON only</a:t>
            </a:r>
            <a:endParaRPr lang="en-US" sz="1050" dirty="0"/>
          </a:p>
        </p:txBody>
      </p:sp>
      <p:sp>
        <p:nvSpPr>
          <p:cNvPr id="39" name="Shape 37"/>
          <p:cNvSpPr/>
          <p:nvPr/>
        </p:nvSpPr>
        <p:spPr>
          <a:xfrm>
            <a:off x="5212080" y="4142232"/>
            <a:ext cx="3566160" cy="530352"/>
          </a:xfrm>
          <a:prstGeom prst="rect">
            <a:avLst/>
          </a:prstGeom>
          <a:solidFill>
            <a:srgbClr val="E8F5F2"/>
          </a:solidFill>
          <a:ln w="12700">
            <a:solidFill>
              <a:srgbClr val="E0E0E0"/>
            </a:solidFill>
            <a:prstDash val="solid"/>
          </a:ln>
        </p:spPr>
      </p:sp>
      <p:sp>
        <p:nvSpPr>
          <p:cNvPr id="40" name="Text 38"/>
          <p:cNvSpPr/>
          <p:nvPr/>
        </p:nvSpPr>
        <p:spPr>
          <a:xfrm>
            <a:off x="5276088" y="4178808"/>
            <a:ext cx="3438144" cy="457200"/>
          </a:xfrm>
          <a:prstGeom prst="rect">
            <a:avLst/>
          </a:prstGeom>
          <a:noFill/>
          <a:ln/>
        </p:spPr>
        <p:txBody>
          <a:bodyPr wrap="square" lIns="0" tIns="0" rIns="0" bIns="0" rtlCol="0" anchor="ctr"/>
          <a:lstStyle/>
          <a:p>
            <a:pPr indent="0" marL="0">
              <a:lnSpc>
                <a:spcPct val="125000"/>
              </a:lnSpc>
              <a:buNone/>
            </a:pPr>
            <a:r>
              <a:rPr lang="en-US" sz="1050" dirty="0">
                <a:solidFill>
                  <a:srgbClr val="0F3D32"/>
                </a:solidFill>
                <a:latin typeface="Calibri" pitchFamily="34" charset="0"/>
                <a:ea typeface="Calibri" pitchFamily="34" charset="-122"/>
                <a:cs typeface="Calibri" pitchFamily="34" charset="-120"/>
              </a:rPr>
              <a:t>Category alert uses 6-month CSV average as baseline — Part 1 and Part 2 connected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lIns="0" tIns="0" rIns="0" bIns="0" rtlCol="0" anchor="ctr"/>
          <a:lstStyle/>
          <a:p>
            <a:pPr indent="0" marL="0">
              <a:buNone/>
            </a:pPr>
            <a:r>
              <a:rPr lang="en-US" sz="2600" b="1" dirty="0">
                <a:solidFill>
                  <a:srgbClr val="1A3A5C"/>
                </a:solidFill>
                <a:latin typeface="Calibri" pitchFamily="34" charset="0"/>
                <a:ea typeface="Calibri" pitchFamily="34" charset="-122"/>
                <a:cs typeface="Calibri" pitchFamily="34" charset="-120"/>
              </a:rPr>
              <a:t>What to submit — at a glance</a:t>
            </a:r>
            <a:endParaRPr lang="en-US" sz="2600" dirty="0"/>
          </a:p>
        </p:txBody>
      </p:sp>
      <p:sp>
        <p:nvSpPr>
          <p:cNvPr id="3" name="Text 1"/>
          <p:cNvSpPr/>
          <p:nvPr/>
        </p:nvSpPr>
        <p:spPr>
          <a:xfrm>
            <a:off x="457200" y="804672"/>
            <a:ext cx="8229600" cy="320040"/>
          </a:xfrm>
          <a:prstGeom prst="rect">
            <a:avLst/>
          </a:prstGeom>
          <a:noFill/>
          <a:ln/>
        </p:spPr>
        <p:txBody>
          <a:bodyPr wrap="square" lIns="0" tIns="0" rIns="0" bIns="0" rtlCol="0" anchor="ctr"/>
          <a:lstStyle/>
          <a:p>
            <a:pPr indent="0" marL="0">
              <a:buNone/>
            </a:pPr>
            <a:r>
              <a:rPr lang="en-US" sz="1400" i="1" dirty="0">
                <a:solidFill>
                  <a:srgbClr val="888888"/>
                </a:solidFill>
                <a:latin typeface="Calibri" pitchFamily="34" charset="0"/>
                <a:ea typeface="Calibri" pitchFamily="34" charset="-122"/>
                <a:cs typeface="Calibri" pitchFamily="34" charset="-120"/>
              </a:rPr>
              <a:t>One notebook. One summary. Individual reflection if working in a group.</a:t>
            </a:r>
            <a:endParaRPr lang="en-US" sz="1400" dirty="0"/>
          </a:p>
        </p:txBody>
      </p:sp>
      <p:sp>
        <p:nvSpPr>
          <p:cNvPr id="4" name="Shape 2"/>
          <p:cNvSpPr/>
          <p:nvPr/>
        </p:nvSpPr>
        <p:spPr>
          <a:xfrm>
            <a:off x="0" y="4892040"/>
            <a:ext cx="9144000" cy="137160"/>
          </a:xfrm>
          <a:prstGeom prst="rect">
            <a:avLst/>
          </a:prstGeom>
          <a:solidFill>
            <a:srgbClr val="2C5F8A"/>
          </a:solidFill>
          <a:ln/>
        </p:spPr>
      </p:sp>
      <p:sp>
        <p:nvSpPr>
          <p:cNvPr id="5" name="Shape 3"/>
          <p:cNvSpPr/>
          <p:nvPr/>
        </p:nvSpPr>
        <p:spPr>
          <a:xfrm>
            <a:off x="365760" y="1207008"/>
            <a:ext cx="4023360" cy="3200400"/>
          </a:xfrm>
          <a:prstGeom prst="roundRect">
            <a:avLst>
              <a:gd name="adj" fmla="val 3429"/>
            </a:avLst>
          </a:prstGeom>
          <a:solidFill>
            <a:srgbClr val="EEF4FB"/>
          </a:solidFill>
          <a:ln w="12700">
            <a:solidFill>
              <a:srgbClr val="2C5F8A"/>
            </a:solidFill>
            <a:prstDash val="solid"/>
          </a:ln>
        </p:spPr>
      </p:sp>
      <p:sp>
        <p:nvSpPr>
          <p:cNvPr id="6" name="Text 4"/>
          <p:cNvSpPr/>
          <p:nvPr/>
        </p:nvSpPr>
        <p:spPr>
          <a:xfrm>
            <a:off x="365760" y="1298448"/>
            <a:ext cx="4023360" cy="347472"/>
          </a:xfrm>
          <a:prstGeom prst="rect">
            <a:avLst/>
          </a:prstGeom>
          <a:noFill/>
          <a:ln/>
        </p:spPr>
        <p:txBody>
          <a:bodyPr wrap="square" lIns="0" tIns="0" rIns="0" bIns="0" rtlCol="0" anchor="ctr"/>
          <a:lstStyle/>
          <a:p>
            <a:pPr algn="ctr" indent="0" marL="0">
              <a:buNone/>
            </a:pPr>
            <a:r>
              <a:rPr lang="en-US" sz="1400" b="1" dirty="0">
                <a:solidFill>
                  <a:srgbClr val="1A3A5C"/>
                </a:solidFill>
                <a:latin typeface="Calibri" pitchFamily="34" charset="0"/>
                <a:ea typeface="Calibri" pitchFamily="34" charset="-122"/>
                <a:cs typeface="Calibri" pitchFamily="34" charset="-120"/>
              </a:rPr>
              <a:t>Individual</a:t>
            </a:r>
            <a:endParaRPr lang="en-US" sz="1400" dirty="0"/>
          </a:p>
        </p:txBody>
      </p:sp>
      <p:sp>
        <p:nvSpPr>
          <p:cNvPr id="7" name="Text 5"/>
          <p:cNvSpPr/>
          <p:nvPr/>
        </p:nvSpPr>
        <p:spPr>
          <a:xfrm>
            <a:off x="548640" y="1755648"/>
            <a:ext cx="3657600" cy="548640"/>
          </a:xfrm>
          <a:prstGeom prst="rect">
            <a:avLst/>
          </a:prstGeom>
          <a:noFill/>
          <a:ln/>
        </p:spPr>
        <p:txBody>
          <a:bodyPr wrap="square" lIns="0" tIns="0" rIns="0" bIns="0" rtlCol="0" anchor="ctr"/>
          <a:lstStyle/>
          <a:p>
            <a:pPr indent="0" marL="0">
              <a:lnSpc>
                <a:spcPct val="130000"/>
              </a:lnSpc>
              <a:buNone/>
            </a:pPr>
            <a:r>
              <a:rPr lang="en-US" sz="1100" dirty="0">
                <a:solidFill>
                  <a:srgbClr val="111111"/>
                </a:solidFill>
                <a:latin typeface="Calibri" pitchFamily="34" charset="0"/>
                <a:ea typeface="Calibri" pitchFamily="34" charset="-122"/>
                <a:cs typeface="Calibri" pitchFamily="34" charset="-120"/>
              </a:rPr>
              <a:t>›  [YourName]_MUC01_Notebook.ipynb</a:t>
            </a:r>
            <a:endParaRPr lang="en-US" sz="1100" dirty="0"/>
          </a:p>
        </p:txBody>
      </p:sp>
      <p:sp>
        <p:nvSpPr>
          <p:cNvPr id="8" name="Text 6"/>
          <p:cNvSpPr/>
          <p:nvPr/>
        </p:nvSpPr>
        <p:spPr>
          <a:xfrm>
            <a:off x="548640" y="2377440"/>
            <a:ext cx="3657600" cy="548640"/>
          </a:xfrm>
          <a:prstGeom prst="rect">
            <a:avLst/>
          </a:prstGeom>
          <a:noFill/>
          <a:ln/>
        </p:spPr>
        <p:txBody>
          <a:bodyPr wrap="square" lIns="0" tIns="0" rIns="0" bIns="0" rtlCol="0" anchor="ctr"/>
          <a:lstStyle/>
          <a:p>
            <a:pPr indent="0" marL="0">
              <a:lnSpc>
                <a:spcPct val="130000"/>
              </a:lnSpc>
              <a:buNone/>
            </a:pPr>
            <a:r>
              <a:rPr lang="en-US" sz="1100" dirty="0">
                <a:solidFill>
                  <a:srgbClr val="111111"/>
                </a:solidFill>
                <a:latin typeface="Calibri" pitchFamily="34" charset="0"/>
                <a:ea typeface="Calibri" pitchFamily="34" charset="-122"/>
                <a:cs typeface="Calibri" pitchFamily="34" charset="-120"/>
              </a:rPr>
              <a:t>›  CBIM canvas at the top → Part 1 (Steps 5.1–5.6) → Part 2 (Steps 5.7–5.11)</a:t>
            </a:r>
            <a:endParaRPr lang="en-US" sz="1100" dirty="0"/>
          </a:p>
        </p:txBody>
      </p:sp>
      <p:sp>
        <p:nvSpPr>
          <p:cNvPr id="9" name="Text 7"/>
          <p:cNvSpPr/>
          <p:nvPr/>
        </p:nvSpPr>
        <p:spPr>
          <a:xfrm>
            <a:off x="548640" y="2999232"/>
            <a:ext cx="3657600" cy="548640"/>
          </a:xfrm>
          <a:prstGeom prst="rect">
            <a:avLst/>
          </a:prstGeom>
          <a:noFill/>
          <a:ln/>
        </p:spPr>
        <p:txBody>
          <a:bodyPr wrap="square" lIns="0" tIns="0" rIns="0" bIns="0" rtlCol="0" anchor="ctr"/>
          <a:lstStyle/>
          <a:p>
            <a:pPr indent="0" marL="0">
              <a:lnSpc>
                <a:spcPct val="130000"/>
              </a:lnSpc>
              <a:buNone/>
            </a:pPr>
            <a:r>
              <a:rPr lang="en-US" sz="1100" dirty="0">
                <a:solidFill>
                  <a:srgbClr val="111111"/>
                </a:solidFill>
                <a:latin typeface="Calibri" pitchFamily="34" charset="0"/>
                <a:ea typeface="Calibri" pitchFamily="34" charset="-122"/>
                <a:cs typeface="Calibri" pitchFamily="34" charset="-120"/>
              </a:rPr>
              <a:t>›  Runs end-to-end without errors — kernel restart + run all cells tested</a:t>
            </a:r>
            <a:endParaRPr lang="en-US" sz="1100" dirty="0"/>
          </a:p>
        </p:txBody>
      </p:sp>
      <p:sp>
        <p:nvSpPr>
          <p:cNvPr id="10" name="Text 8"/>
          <p:cNvSpPr/>
          <p:nvPr/>
        </p:nvSpPr>
        <p:spPr>
          <a:xfrm>
            <a:off x="548640" y="3621024"/>
            <a:ext cx="3657600" cy="548640"/>
          </a:xfrm>
          <a:prstGeom prst="rect">
            <a:avLst/>
          </a:prstGeom>
          <a:noFill/>
          <a:ln/>
        </p:spPr>
        <p:txBody>
          <a:bodyPr wrap="square" lIns="0" tIns="0" rIns="0" bIns="0" rtlCol="0" anchor="ctr"/>
          <a:lstStyle/>
          <a:p>
            <a:pPr indent="0" marL="0">
              <a:lnSpc>
                <a:spcPct val="130000"/>
              </a:lnSpc>
              <a:buNone/>
            </a:pPr>
            <a:r>
              <a:rPr lang="en-US" sz="1100" dirty="0">
                <a:solidFill>
                  <a:srgbClr val="111111"/>
                </a:solidFill>
                <a:latin typeface="Calibri" pitchFamily="34" charset="0"/>
                <a:ea typeface="Calibri" pitchFamily="34" charset="-122"/>
                <a:cs typeface="Calibri" pitchFamily="34" charset="-120"/>
              </a:rPr>
              <a:t>›  [YourName]_MUC01_Summary.docx (max 500 words)</a:t>
            </a:r>
            <a:endParaRPr lang="en-US" sz="1100" dirty="0"/>
          </a:p>
        </p:txBody>
      </p:sp>
      <p:sp>
        <p:nvSpPr>
          <p:cNvPr id="11" name="Shape 9"/>
          <p:cNvSpPr/>
          <p:nvPr/>
        </p:nvSpPr>
        <p:spPr>
          <a:xfrm>
            <a:off x="4754880" y="1207008"/>
            <a:ext cx="4023360" cy="3200400"/>
          </a:xfrm>
          <a:prstGeom prst="roundRect">
            <a:avLst>
              <a:gd name="adj" fmla="val 3429"/>
            </a:avLst>
          </a:prstGeom>
          <a:solidFill>
            <a:srgbClr val="E8F5F2"/>
          </a:solidFill>
          <a:ln w="12700">
            <a:solidFill>
              <a:srgbClr val="1D6A5C"/>
            </a:solidFill>
            <a:prstDash val="solid"/>
          </a:ln>
        </p:spPr>
      </p:sp>
      <p:sp>
        <p:nvSpPr>
          <p:cNvPr id="12" name="Text 10"/>
          <p:cNvSpPr/>
          <p:nvPr/>
        </p:nvSpPr>
        <p:spPr>
          <a:xfrm>
            <a:off x="4754880" y="1298448"/>
            <a:ext cx="4023360" cy="347472"/>
          </a:xfrm>
          <a:prstGeom prst="rect">
            <a:avLst/>
          </a:prstGeom>
          <a:noFill/>
          <a:ln/>
        </p:spPr>
        <p:txBody>
          <a:bodyPr wrap="square" lIns="0" tIns="0" rIns="0" bIns="0" rtlCol="0" anchor="ctr"/>
          <a:lstStyle/>
          <a:p>
            <a:pPr algn="ctr" indent="0" marL="0">
              <a:buNone/>
            </a:pPr>
            <a:r>
              <a:rPr lang="en-US" sz="1400" b="1" dirty="0">
                <a:solidFill>
                  <a:srgbClr val="1D6A5C"/>
                </a:solidFill>
                <a:latin typeface="Calibri" pitchFamily="34" charset="0"/>
                <a:ea typeface="Calibri" pitchFamily="34" charset="-122"/>
                <a:cs typeface="Calibri" pitchFamily="34" charset="-120"/>
              </a:rPr>
              <a:t>Group of 2–3</a:t>
            </a:r>
            <a:endParaRPr lang="en-US" sz="1400" dirty="0"/>
          </a:p>
        </p:txBody>
      </p:sp>
      <p:sp>
        <p:nvSpPr>
          <p:cNvPr id="13" name="Text 11"/>
          <p:cNvSpPr/>
          <p:nvPr/>
        </p:nvSpPr>
        <p:spPr>
          <a:xfrm>
            <a:off x="4937760" y="1755648"/>
            <a:ext cx="3657600" cy="548640"/>
          </a:xfrm>
          <a:prstGeom prst="rect">
            <a:avLst/>
          </a:prstGeom>
          <a:noFill/>
          <a:ln/>
        </p:spPr>
        <p:txBody>
          <a:bodyPr wrap="square" lIns="0" tIns="0" rIns="0" bIns="0" rtlCol="0" anchor="ctr"/>
          <a:lstStyle/>
          <a:p>
            <a:pPr indent="0" marL="0">
              <a:lnSpc>
                <a:spcPct val="130000"/>
              </a:lnSpc>
              <a:buNone/>
            </a:pPr>
            <a:r>
              <a:rPr lang="en-US" sz="1100" dirty="0">
                <a:solidFill>
                  <a:srgbClr val="111111"/>
                </a:solidFill>
                <a:latin typeface="Calibri" pitchFamily="34" charset="0"/>
                <a:ea typeface="Calibri" pitchFamily="34" charset="-122"/>
                <a:cs typeface="Calibri" pitchFamily="34" charset="-120"/>
              </a:rPr>
              <a:t>›  [TeamName]_MUC01_Notebook.ipynb — each step credits the member who built it</a:t>
            </a:r>
            <a:endParaRPr lang="en-US" sz="1100" dirty="0"/>
          </a:p>
        </p:txBody>
      </p:sp>
      <p:sp>
        <p:nvSpPr>
          <p:cNvPr id="14" name="Text 12"/>
          <p:cNvSpPr/>
          <p:nvPr/>
        </p:nvSpPr>
        <p:spPr>
          <a:xfrm>
            <a:off x="4937760" y="2377440"/>
            <a:ext cx="3657600" cy="548640"/>
          </a:xfrm>
          <a:prstGeom prst="rect">
            <a:avLst/>
          </a:prstGeom>
          <a:noFill/>
          <a:ln/>
        </p:spPr>
        <p:txBody>
          <a:bodyPr wrap="square" lIns="0" tIns="0" rIns="0" bIns="0" rtlCol="0" anchor="ctr"/>
          <a:lstStyle/>
          <a:p>
            <a:pPr indent="0" marL="0">
              <a:lnSpc>
                <a:spcPct val="130000"/>
              </a:lnSpc>
              <a:buNone/>
            </a:pPr>
            <a:r>
              <a:rPr lang="en-US" sz="1100" dirty="0">
                <a:solidFill>
                  <a:srgbClr val="111111"/>
                </a:solidFill>
                <a:latin typeface="Calibri" pitchFamily="34" charset="0"/>
                <a:ea typeface="Calibri" pitchFamily="34" charset="-122"/>
                <a:cs typeface="Calibri" pitchFamily="34" charset="-120"/>
              </a:rPr>
              <a:t>›  CBIM canvas completed together — all members contributed</a:t>
            </a:r>
            <a:endParaRPr lang="en-US" sz="1100" dirty="0"/>
          </a:p>
        </p:txBody>
      </p:sp>
      <p:sp>
        <p:nvSpPr>
          <p:cNvPr id="15" name="Text 13"/>
          <p:cNvSpPr/>
          <p:nvPr/>
        </p:nvSpPr>
        <p:spPr>
          <a:xfrm>
            <a:off x="4937760" y="2999232"/>
            <a:ext cx="3657600" cy="548640"/>
          </a:xfrm>
          <a:prstGeom prst="rect">
            <a:avLst/>
          </a:prstGeom>
          <a:noFill/>
          <a:ln/>
        </p:spPr>
        <p:txBody>
          <a:bodyPr wrap="square" lIns="0" tIns="0" rIns="0" bIns="0" rtlCol="0" anchor="ctr"/>
          <a:lstStyle/>
          <a:p>
            <a:pPr indent="0" marL="0">
              <a:lnSpc>
                <a:spcPct val="130000"/>
              </a:lnSpc>
              <a:buNone/>
            </a:pPr>
            <a:r>
              <a:rPr lang="en-US" sz="1100" dirty="0">
                <a:solidFill>
                  <a:srgbClr val="111111"/>
                </a:solidFill>
                <a:latin typeface="Calibri" pitchFamily="34" charset="0"/>
                <a:ea typeface="Calibri" pitchFamily="34" charset="-122"/>
                <a:cs typeface="Calibri" pitchFamily="34" charset="-120"/>
              </a:rPr>
              <a:t>›  [TeamName]_MUC01_Summary.docx (max 600 words)</a:t>
            </a:r>
            <a:endParaRPr lang="en-US" sz="1100" dirty="0"/>
          </a:p>
        </p:txBody>
      </p:sp>
      <p:sp>
        <p:nvSpPr>
          <p:cNvPr id="16" name="Text 14"/>
          <p:cNvSpPr/>
          <p:nvPr/>
        </p:nvSpPr>
        <p:spPr>
          <a:xfrm>
            <a:off x="4937760" y="3621024"/>
            <a:ext cx="3657600" cy="548640"/>
          </a:xfrm>
          <a:prstGeom prst="rect">
            <a:avLst/>
          </a:prstGeom>
          <a:noFill/>
          <a:ln/>
        </p:spPr>
        <p:txBody>
          <a:bodyPr wrap="square" lIns="0" tIns="0" rIns="0" bIns="0" rtlCol="0" anchor="ctr"/>
          <a:lstStyle/>
          <a:p>
            <a:pPr indent="0" marL="0">
              <a:lnSpc>
                <a:spcPct val="130000"/>
              </a:lnSpc>
              <a:buNone/>
            </a:pPr>
            <a:r>
              <a:rPr lang="en-US" sz="1100" dirty="0">
                <a:solidFill>
                  <a:srgbClr val="111111"/>
                </a:solidFill>
                <a:latin typeface="Calibri" pitchFamily="34" charset="0"/>
                <a:ea typeface="Calibri" pitchFamily="34" charset="-122"/>
                <a:cs typeface="Calibri" pitchFamily="34" charset="-120"/>
              </a:rPr>
              <a:t>›  Individual 150-word reflection from each team member — submitted separately</a:t>
            </a:r>
            <a:endParaRPr lang="en-US" sz="1100" dirty="0"/>
          </a:p>
        </p:txBody>
      </p:sp>
      <p:sp>
        <p:nvSpPr>
          <p:cNvPr id="17" name="Shape 15"/>
          <p:cNvSpPr/>
          <p:nvPr/>
        </p:nvSpPr>
        <p:spPr>
          <a:xfrm>
            <a:off x="365760" y="4526280"/>
            <a:ext cx="8412480" cy="256032"/>
          </a:xfrm>
          <a:prstGeom prst="roundRect">
            <a:avLst>
              <a:gd name="adj" fmla="val 17857"/>
            </a:avLst>
          </a:prstGeom>
          <a:solidFill>
            <a:srgbClr val="FEF3DC"/>
          </a:solidFill>
          <a:ln w="12700">
            <a:solidFill>
              <a:srgbClr val="C8860A"/>
            </a:solidFill>
            <a:prstDash val="solid"/>
          </a:ln>
        </p:spPr>
      </p:sp>
      <p:sp>
        <p:nvSpPr>
          <p:cNvPr id="18" name="Text 16"/>
          <p:cNvSpPr/>
          <p:nvPr/>
        </p:nvSpPr>
        <p:spPr>
          <a:xfrm>
            <a:off x="502920" y="4526280"/>
            <a:ext cx="8229600" cy="256032"/>
          </a:xfrm>
          <a:prstGeom prst="rect">
            <a:avLst/>
          </a:prstGeom>
          <a:noFill/>
          <a:ln/>
        </p:spPr>
        <p:txBody>
          <a:bodyPr wrap="square" lIns="0" tIns="0" rIns="0" bIns="0" rtlCol="0" anchor="ctr"/>
          <a:lstStyle/>
          <a:p>
            <a:pPr indent="0" marL="0">
              <a:buNone/>
            </a:pPr>
            <a:r>
              <a:rPr lang="en-US" sz="1100" dirty="0">
                <a:solidFill>
                  <a:srgbClr val="C8860A"/>
                </a:solidFill>
                <a:latin typeface="Calibri" pitchFamily="34" charset="0"/>
                <a:ea typeface="Calibri" pitchFamily="34" charset="-122"/>
                <a:cs typeface="Calibri" pitchFamily="34" charset="-120"/>
              </a:rPr>
              <a:t>Deadline: to be confirmed by your trainer. Check the document for the file naming convention.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0" y="4892040"/>
            <a:ext cx="9144000" cy="137160"/>
          </a:xfrm>
          <a:prstGeom prst="rect">
            <a:avLst/>
          </a:prstGeom>
          <a:solidFill>
            <a:srgbClr val="1D6A5C"/>
          </a:solidFill>
          <a:ln/>
        </p:spPr>
      </p:sp>
      <p:sp>
        <p:nvSpPr>
          <p:cNvPr id="3" name="Text 1"/>
          <p:cNvSpPr/>
          <p:nvPr/>
        </p:nvSpPr>
        <p:spPr>
          <a:xfrm>
            <a:off x="457200" y="256032"/>
            <a:ext cx="8229600" cy="347472"/>
          </a:xfrm>
          <a:prstGeom prst="rect">
            <a:avLst/>
          </a:prstGeom>
          <a:noFill/>
          <a:ln/>
        </p:spPr>
        <p:txBody>
          <a:bodyPr wrap="square" lIns="0" tIns="0" rIns="0" bIns="0" rtlCol="0" anchor="ctr"/>
          <a:lstStyle/>
          <a:p>
            <a:pPr indent="0" marL="0">
              <a:buNone/>
            </a:pPr>
            <a:r>
              <a:rPr lang="en-US" sz="1100" b="1" spc="400" kern="0" dirty="0">
                <a:solidFill>
                  <a:srgbClr val="BDD5EC"/>
                </a:solidFill>
                <a:latin typeface="Calibri" pitchFamily="34" charset="0"/>
                <a:ea typeface="Calibri" pitchFamily="34" charset="-122"/>
                <a:cs typeface="Calibri" pitchFamily="34" charset="-120"/>
              </a:rPr>
              <a:t>OPTIONAL — LIVE DEMO</a:t>
            </a:r>
            <a:endParaRPr lang="en-US" sz="1100" dirty="0"/>
          </a:p>
        </p:txBody>
      </p:sp>
      <p:sp>
        <p:nvSpPr>
          <p:cNvPr id="4" name="Text 2"/>
          <p:cNvSpPr/>
          <p:nvPr/>
        </p:nvSpPr>
        <p:spPr>
          <a:xfrm>
            <a:off x="457200" y="640080"/>
            <a:ext cx="8229600" cy="4114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If time allows: show students the files</a:t>
            </a:r>
            <a:endParaRPr lang="en-US" sz="2200" dirty="0"/>
          </a:p>
        </p:txBody>
      </p:sp>
      <p:sp>
        <p:nvSpPr>
          <p:cNvPr id="5" name="Shape 3"/>
          <p:cNvSpPr/>
          <p:nvPr/>
        </p:nvSpPr>
        <p:spPr>
          <a:xfrm>
            <a:off x="365760" y="1207008"/>
            <a:ext cx="8412480" cy="1051560"/>
          </a:xfrm>
          <a:prstGeom prst="roundRect">
            <a:avLst>
              <a:gd name="adj" fmla="val 8696"/>
            </a:avLst>
          </a:prstGeom>
          <a:solidFill>
            <a:srgbClr val="2C5F8A"/>
          </a:solidFill>
          <a:ln w="12700">
            <a:solidFill>
              <a:srgbClr val="E0E0E0"/>
            </a:solidFill>
            <a:prstDash val="solid"/>
          </a:ln>
          <a:effectLst>
            <a:outerShdw sx="100000" sy="100000" kx="0" ky="0" algn="bl" rotWithShape="0" blurRad="76200" dist="38100" dir="2700000">
              <a:srgbClr val="000000">
                <a:alpha val="10000"/>
              </a:srgbClr>
            </a:outerShdw>
          </a:effectLst>
        </p:spPr>
      </p:sp>
      <p:sp>
        <p:nvSpPr>
          <p:cNvPr id="6" name="Shape 4"/>
          <p:cNvSpPr/>
          <p:nvPr/>
        </p:nvSpPr>
        <p:spPr>
          <a:xfrm>
            <a:off x="475488" y="1316736"/>
            <a:ext cx="347472" cy="347472"/>
          </a:xfrm>
          <a:prstGeom prst="ellipse">
            <a:avLst/>
          </a:prstGeom>
          <a:solidFill>
            <a:srgbClr val="1D6A5C"/>
          </a:solidFill>
          <a:ln/>
        </p:spPr>
      </p:sp>
      <p:sp>
        <p:nvSpPr>
          <p:cNvPr id="7" name="Text 5"/>
          <p:cNvSpPr/>
          <p:nvPr/>
        </p:nvSpPr>
        <p:spPr>
          <a:xfrm>
            <a:off x="475488" y="131673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914400" y="1316736"/>
            <a:ext cx="7754112" cy="347472"/>
          </a:xfrm>
          <a:prstGeom prst="rect">
            <a:avLst/>
          </a:prstGeom>
          <a:noFill/>
          <a:ln/>
        </p:spPr>
        <p:txBody>
          <a:bodyPr wrap="square" lIns="0" tIns="0" rIns="0" bIns="0" rtlCol="0" anchor="ctr"/>
          <a:lstStyle/>
          <a:p>
            <a:pPr indent="0" marL="0">
              <a:buNone/>
            </a:pPr>
            <a:r>
              <a:rPr lang="en-US" sz="1200" b="1" dirty="0">
                <a:solidFill>
                  <a:srgbClr val="BDD5EC"/>
                </a:solidFill>
                <a:latin typeface="Calibri" pitchFamily="34" charset="0"/>
                <a:ea typeface="Calibri" pitchFamily="34" charset="-122"/>
                <a:cs typeface="Calibri" pitchFamily="34" charset="-120"/>
              </a:rPr>
              <a:t>Open the JSON file in VS Code</a:t>
            </a:r>
            <a:endParaRPr lang="en-US" sz="1200" dirty="0"/>
          </a:p>
        </p:txBody>
      </p:sp>
      <p:sp>
        <p:nvSpPr>
          <p:cNvPr id="9" name="Text 7"/>
          <p:cNvSpPr/>
          <p:nvPr/>
        </p:nvSpPr>
        <p:spPr>
          <a:xfrm>
            <a:off x="502920" y="1737360"/>
            <a:ext cx="8156448" cy="393192"/>
          </a:xfrm>
          <a:prstGeom prst="rect">
            <a:avLst/>
          </a:prstGeom>
          <a:noFill/>
          <a:ln/>
        </p:spPr>
        <p:txBody>
          <a:bodyPr wrap="square" lIns="0" tIns="0" rIns="0" bIns="0" rtlCol="0" anchor="ctr"/>
          <a:lstStyle/>
          <a:p>
            <a:pPr indent="0" marL="0">
              <a:lnSpc>
                <a:spcPct val="130000"/>
              </a:lnSpc>
              <a:buNone/>
            </a:pPr>
            <a:r>
              <a:rPr lang="en-US" sz="1050" dirty="0">
                <a:solidFill>
                  <a:srgbClr val="111111"/>
                </a:solidFill>
                <a:latin typeface="Calibri" pitchFamily="34" charset="0"/>
                <a:ea typeface="Calibri" pitchFamily="34" charset="-122"/>
                <a:cs typeface="Calibri" pitchFamily="34" charset="-120"/>
              </a:rPr>
              <a:t>Show students the top-level structure — status, request_id, period, record_count, data. Point to the metadata fields they need to check in Step 5.8.</a:t>
            </a:r>
            <a:endParaRPr lang="en-US" sz="1050" dirty="0"/>
          </a:p>
        </p:txBody>
      </p:sp>
      <p:sp>
        <p:nvSpPr>
          <p:cNvPr id="10" name="Shape 8"/>
          <p:cNvSpPr/>
          <p:nvPr/>
        </p:nvSpPr>
        <p:spPr>
          <a:xfrm>
            <a:off x="365760" y="2395728"/>
            <a:ext cx="8412480" cy="1051560"/>
          </a:xfrm>
          <a:prstGeom prst="roundRect">
            <a:avLst>
              <a:gd name="adj" fmla="val 8696"/>
            </a:avLst>
          </a:prstGeom>
          <a:solidFill>
            <a:srgbClr val="2C5F8A"/>
          </a:solidFill>
          <a:ln w="12700">
            <a:solidFill>
              <a:srgbClr val="E0E0E0"/>
            </a:solidFill>
            <a:prstDash val="solid"/>
          </a:ln>
          <a:effectLst>
            <a:outerShdw sx="100000" sy="100000" kx="0" ky="0" algn="bl" rotWithShape="0" blurRad="76200" dist="38100" dir="2700000">
              <a:srgbClr val="000000">
                <a:alpha val="10000"/>
              </a:srgbClr>
            </a:outerShdw>
          </a:effectLst>
        </p:spPr>
      </p:sp>
      <p:sp>
        <p:nvSpPr>
          <p:cNvPr id="11" name="Shape 9"/>
          <p:cNvSpPr/>
          <p:nvPr/>
        </p:nvSpPr>
        <p:spPr>
          <a:xfrm>
            <a:off x="475488" y="2505456"/>
            <a:ext cx="347472" cy="347472"/>
          </a:xfrm>
          <a:prstGeom prst="ellipse">
            <a:avLst/>
          </a:prstGeom>
          <a:solidFill>
            <a:srgbClr val="1D6A5C"/>
          </a:solidFill>
          <a:ln/>
        </p:spPr>
      </p:sp>
      <p:sp>
        <p:nvSpPr>
          <p:cNvPr id="12" name="Text 10"/>
          <p:cNvSpPr/>
          <p:nvPr/>
        </p:nvSpPr>
        <p:spPr>
          <a:xfrm>
            <a:off x="475488" y="250545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914400" y="2505456"/>
            <a:ext cx="7754112" cy="347472"/>
          </a:xfrm>
          <a:prstGeom prst="rect">
            <a:avLst/>
          </a:prstGeom>
          <a:noFill/>
          <a:ln/>
        </p:spPr>
        <p:txBody>
          <a:bodyPr wrap="square" lIns="0" tIns="0" rIns="0" bIns="0" rtlCol="0" anchor="ctr"/>
          <a:lstStyle/>
          <a:p>
            <a:pPr indent="0" marL="0">
              <a:buNone/>
            </a:pPr>
            <a:r>
              <a:rPr lang="en-US" sz="1200" b="1" dirty="0">
                <a:solidFill>
                  <a:srgbClr val="BDD5EC"/>
                </a:solidFill>
                <a:latin typeface="Calibri" pitchFamily="34" charset="0"/>
                <a:ea typeface="Calibri" pitchFamily="34" charset="-122"/>
                <a:cs typeface="Calibri" pitchFamily="34" charset="-120"/>
              </a:rPr>
              <a:t>Open the corrupt JSON side by side</a:t>
            </a:r>
            <a:endParaRPr lang="en-US" sz="1200" dirty="0"/>
          </a:p>
        </p:txBody>
      </p:sp>
      <p:sp>
        <p:nvSpPr>
          <p:cNvPr id="14" name="Text 12"/>
          <p:cNvSpPr/>
          <p:nvPr/>
        </p:nvSpPr>
        <p:spPr>
          <a:xfrm>
            <a:off x="502920" y="2926080"/>
            <a:ext cx="8156448" cy="393192"/>
          </a:xfrm>
          <a:prstGeom prst="rect">
            <a:avLst/>
          </a:prstGeom>
          <a:noFill/>
          <a:ln/>
        </p:spPr>
        <p:txBody>
          <a:bodyPr wrap="square" lIns="0" tIns="0" rIns="0" bIns="0" rtlCol="0" anchor="ctr"/>
          <a:lstStyle/>
          <a:p>
            <a:pPr indent="0" marL="0">
              <a:lnSpc>
                <a:spcPct val="130000"/>
              </a:lnSpc>
              <a:buNone/>
            </a:pPr>
            <a:r>
              <a:rPr lang="en-US" sz="1050" dirty="0">
                <a:solidFill>
                  <a:srgbClr val="111111"/>
                </a:solidFill>
                <a:latin typeface="Calibri" pitchFamily="34" charset="0"/>
                <a:ea typeface="Calibri" pitchFamily="34" charset="-122"/>
                <a:cs typeface="Calibri" pitchFamily="34" charset="-120"/>
              </a:rPr>
              <a:t>Show that it looks almost identical. The issues are subtle — that is the point. Validation exists because humans cannot spot data quality issues at scale by looking.</a:t>
            </a:r>
            <a:endParaRPr lang="en-US" sz="1050" dirty="0"/>
          </a:p>
        </p:txBody>
      </p:sp>
      <p:sp>
        <p:nvSpPr>
          <p:cNvPr id="15" name="Shape 13"/>
          <p:cNvSpPr/>
          <p:nvPr/>
        </p:nvSpPr>
        <p:spPr>
          <a:xfrm>
            <a:off x="365760" y="3584448"/>
            <a:ext cx="8412480" cy="1051560"/>
          </a:xfrm>
          <a:prstGeom prst="roundRect">
            <a:avLst>
              <a:gd name="adj" fmla="val 8696"/>
            </a:avLst>
          </a:prstGeom>
          <a:solidFill>
            <a:srgbClr val="2C5F8A"/>
          </a:solidFill>
          <a:ln w="12700">
            <a:solidFill>
              <a:srgbClr val="E0E0E0"/>
            </a:solidFill>
            <a:prstDash val="solid"/>
          </a:ln>
          <a:effectLst>
            <a:outerShdw sx="100000" sy="100000" kx="0" ky="0" algn="bl" rotWithShape="0" blurRad="76200" dist="38100" dir="2700000">
              <a:srgbClr val="000000">
                <a:alpha val="10000"/>
              </a:srgbClr>
            </a:outerShdw>
          </a:effectLst>
        </p:spPr>
      </p:sp>
      <p:sp>
        <p:nvSpPr>
          <p:cNvPr id="16" name="Shape 14"/>
          <p:cNvSpPr/>
          <p:nvPr/>
        </p:nvSpPr>
        <p:spPr>
          <a:xfrm>
            <a:off x="475488" y="3694176"/>
            <a:ext cx="347472" cy="347472"/>
          </a:xfrm>
          <a:prstGeom prst="ellipse">
            <a:avLst/>
          </a:prstGeom>
          <a:solidFill>
            <a:srgbClr val="1D6A5C"/>
          </a:solidFill>
          <a:ln/>
        </p:spPr>
      </p:sp>
      <p:sp>
        <p:nvSpPr>
          <p:cNvPr id="17" name="Text 15"/>
          <p:cNvSpPr/>
          <p:nvPr/>
        </p:nvSpPr>
        <p:spPr>
          <a:xfrm>
            <a:off x="475488" y="36941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914400" y="3694176"/>
            <a:ext cx="7754112" cy="347472"/>
          </a:xfrm>
          <a:prstGeom prst="rect">
            <a:avLst/>
          </a:prstGeom>
          <a:noFill/>
          <a:ln/>
        </p:spPr>
        <p:txBody>
          <a:bodyPr wrap="square" lIns="0" tIns="0" rIns="0" bIns="0" rtlCol="0" anchor="ctr"/>
          <a:lstStyle/>
          <a:p>
            <a:pPr indent="0" marL="0">
              <a:buNone/>
            </a:pPr>
            <a:r>
              <a:rPr lang="en-US" sz="1200" b="1" dirty="0">
                <a:solidFill>
                  <a:srgbClr val="BDD5EC"/>
                </a:solidFill>
                <a:latin typeface="Calibri" pitchFamily="34" charset="0"/>
                <a:ea typeface="Calibri" pitchFamily="34" charset="-122"/>
                <a:cs typeface="Calibri" pitchFamily="34" charset="-120"/>
              </a:rPr>
              <a:t>Run the CSV load in Jupyter (2 lines)</a:t>
            </a:r>
            <a:endParaRPr lang="en-US" sz="1200" dirty="0"/>
          </a:p>
        </p:txBody>
      </p:sp>
      <p:sp>
        <p:nvSpPr>
          <p:cNvPr id="19" name="Text 17"/>
          <p:cNvSpPr/>
          <p:nvPr/>
        </p:nvSpPr>
        <p:spPr>
          <a:xfrm>
            <a:off x="502920" y="4114800"/>
            <a:ext cx="8156448" cy="393192"/>
          </a:xfrm>
          <a:prstGeom prst="rect">
            <a:avLst/>
          </a:prstGeom>
          <a:noFill/>
          <a:ln/>
        </p:spPr>
        <p:txBody>
          <a:bodyPr wrap="square" lIns="0" tIns="0" rIns="0" bIns="0" rtlCol="0" anchor="ctr"/>
          <a:lstStyle/>
          <a:p>
            <a:pPr indent="0" marL="0">
              <a:lnSpc>
                <a:spcPct val="130000"/>
              </a:lnSpc>
              <a:buNone/>
            </a:pPr>
            <a:r>
              <a:rPr lang="en-US" sz="1050" dirty="0">
                <a:solidFill>
                  <a:srgbClr val="111111"/>
                </a:solidFill>
                <a:latin typeface="Calibri" pitchFamily="34" charset="0"/>
                <a:ea typeface="Calibri" pitchFamily="34" charset="-122"/>
                <a:cs typeface="Calibri" pitchFamily="34" charset="-120"/>
              </a:rPr>
              <a:t>df = pd.read_csv('MUC01_Retail_Sales_Dataset.csv') and df.shape. Seeing 107,836 rows land in a second sets the scale for students.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3A5C"/>
        </a:solidFill>
      </p:bgPr>
    </p:bg>
    <p:spTree>
      <p:nvGrpSpPr>
        <p:cNvPr id="1" name=""/>
        <p:cNvGrpSpPr/>
        <p:nvPr/>
      </p:nvGrpSpPr>
      <p:grpSpPr>
        <a:xfrm>
          <a:off x="0" y="0"/>
          <a:ext cx="0" cy="0"/>
          <a:chOff x="0" y="0"/>
          <a:chExt cx="0" cy="0"/>
        </a:xfrm>
      </p:grpSpPr>
      <p:sp>
        <p:nvSpPr>
          <p:cNvPr id="2" name="Shape 0"/>
          <p:cNvSpPr/>
          <p:nvPr/>
        </p:nvSpPr>
        <p:spPr>
          <a:xfrm>
            <a:off x="6583680" y="-914400"/>
            <a:ext cx="3840480" cy="3840480"/>
          </a:xfrm>
          <a:prstGeom prst="ellipse">
            <a:avLst/>
          </a:prstGeom>
          <a:solidFill>
            <a:srgbClr val="2C5F8A">
              <a:alpha val="45000"/>
            </a:srgbClr>
          </a:solidFill>
          <a:ln/>
        </p:spPr>
      </p:sp>
      <p:sp>
        <p:nvSpPr>
          <p:cNvPr id="3" name="Shape 1"/>
          <p:cNvSpPr/>
          <p:nvPr/>
        </p:nvSpPr>
        <p:spPr>
          <a:xfrm>
            <a:off x="-731520" y="3474720"/>
            <a:ext cx="2560320" cy="2560320"/>
          </a:xfrm>
          <a:prstGeom prst="ellipse">
            <a:avLst/>
          </a:prstGeom>
          <a:solidFill>
            <a:srgbClr val="1D6A5C">
              <a:alpha val="35000"/>
            </a:srgbClr>
          </a:solidFill>
          <a:ln/>
        </p:spPr>
      </p:sp>
      <p:sp>
        <p:nvSpPr>
          <p:cNvPr id="4" name="Shape 2"/>
          <p:cNvSpPr/>
          <p:nvPr/>
        </p:nvSpPr>
        <p:spPr>
          <a:xfrm>
            <a:off x="0" y="4892040"/>
            <a:ext cx="9144000" cy="137160"/>
          </a:xfrm>
          <a:prstGeom prst="rect">
            <a:avLst/>
          </a:prstGeom>
          <a:solidFill>
            <a:srgbClr val="1D6A5C"/>
          </a:solidFill>
          <a:ln/>
        </p:spPr>
      </p:sp>
      <p:sp>
        <p:nvSpPr>
          <p:cNvPr id="5" name="Text 3"/>
          <p:cNvSpPr/>
          <p:nvPr/>
        </p:nvSpPr>
        <p:spPr>
          <a:xfrm>
            <a:off x="548640" y="411480"/>
            <a:ext cx="8046720" cy="5943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Before you start — three things to remember</a:t>
            </a:r>
            <a:endParaRPr lang="en-US" sz="2600" dirty="0"/>
          </a:p>
        </p:txBody>
      </p:sp>
      <p:sp>
        <p:nvSpPr>
          <p:cNvPr id="6" name="Shape 4"/>
          <p:cNvSpPr/>
          <p:nvPr/>
        </p:nvSpPr>
        <p:spPr>
          <a:xfrm>
            <a:off x="457200" y="1280160"/>
            <a:ext cx="457200" cy="457200"/>
          </a:xfrm>
          <a:prstGeom prst="ellipse">
            <a:avLst/>
          </a:prstGeom>
          <a:solidFill>
            <a:srgbClr val="1D6A5C"/>
          </a:solidFill>
          <a:ln/>
        </p:spPr>
      </p:sp>
      <p:sp>
        <p:nvSpPr>
          <p:cNvPr id="7" name="Text 5"/>
          <p:cNvSpPr/>
          <p:nvPr/>
        </p:nvSpPr>
        <p:spPr>
          <a:xfrm>
            <a:off x="457200" y="12801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1078992" y="1298448"/>
            <a:ext cx="7589520" cy="420624"/>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CBIM canvas first. Always. Before any code.</a:t>
            </a:r>
            <a:endParaRPr lang="en-US" sz="1400" dirty="0"/>
          </a:p>
        </p:txBody>
      </p:sp>
      <p:sp>
        <p:nvSpPr>
          <p:cNvPr id="9" name="Shape 7"/>
          <p:cNvSpPr/>
          <p:nvPr/>
        </p:nvSpPr>
        <p:spPr>
          <a:xfrm>
            <a:off x="457200" y="2359152"/>
            <a:ext cx="457200" cy="457200"/>
          </a:xfrm>
          <a:prstGeom prst="ellipse">
            <a:avLst/>
          </a:prstGeom>
          <a:solidFill>
            <a:srgbClr val="1D6A5C"/>
          </a:solidFill>
          <a:ln/>
        </p:spPr>
      </p:sp>
      <p:sp>
        <p:nvSpPr>
          <p:cNvPr id="10" name="Text 8"/>
          <p:cNvSpPr/>
          <p:nvPr/>
        </p:nvSpPr>
        <p:spPr>
          <a:xfrm>
            <a:off x="457200" y="23591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078992" y="2377440"/>
            <a:ext cx="7589520" cy="420624"/>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Part 1 and Part 2 are one story — Step 5.10 connects them. Do not treat them as separate exercises.</a:t>
            </a:r>
            <a:endParaRPr lang="en-US" sz="1400" dirty="0"/>
          </a:p>
        </p:txBody>
      </p:sp>
      <p:sp>
        <p:nvSpPr>
          <p:cNvPr id="12" name="Shape 10"/>
          <p:cNvSpPr/>
          <p:nvPr/>
        </p:nvSpPr>
        <p:spPr>
          <a:xfrm>
            <a:off x="457200" y="3438144"/>
            <a:ext cx="457200" cy="457200"/>
          </a:xfrm>
          <a:prstGeom prst="ellipse">
            <a:avLst/>
          </a:prstGeom>
          <a:solidFill>
            <a:srgbClr val="1D6A5C"/>
          </a:solidFill>
          <a:ln/>
        </p:spPr>
      </p:sp>
      <p:sp>
        <p:nvSpPr>
          <p:cNvPr id="13" name="Text 11"/>
          <p:cNvSpPr/>
          <p:nvPr/>
        </p:nvSpPr>
        <p:spPr>
          <a:xfrm>
            <a:off x="457200" y="34381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p:nvPr/>
        </p:nvSpPr>
        <p:spPr>
          <a:xfrm>
            <a:off x="1078992" y="3456432"/>
            <a:ext cx="7589520" cy="420624"/>
          </a:xfrm>
          <a:prstGeom prst="rect">
            <a:avLst/>
          </a:prstGeom>
          <a:noFill/>
          <a:ln/>
        </p:spPr>
        <p:txBody>
          <a:bodyPr wrap="square" lIns="0" tIns="0" rIns="0" bIns="0" rtlCol="0" anchor="ctr"/>
          <a:lstStyle/>
          <a:p>
            <a:pPr indent="0" marL="0">
              <a:lnSpc>
                <a:spcPct val="130000"/>
              </a:lnSpc>
              <a:buNone/>
            </a:pPr>
            <a:r>
              <a:rPr lang="en-US" sz="1400" dirty="0">
                <a:solidFill>
                  <a:srgbClr val="FFFFFF"/>
                </a:solidFill>
                <a:latin typeface="Calibri" pitchFamily="34" charset="0"/>
                <a:ea typeface="Calibri" pitchFamily="34" charset="-122"/>
                <a:cs typeface="Calibri" pitchFamily="34" charset="-120"/>
              </a:rPr>
              <a:t>Business language everywhere — in charts, in markdown cells, in your recommendation. You are writing for the operations head, not for each other.</a:t>
            </a:r>
            <a:endParaRPr lang="en-US" sz="1400" dirty="0"/>
          </a:p>
        </p:txBody>
      </p:sp>
      <p:sp>
        <p:nvSpPr>
          <p:cNvPr id="15" name="Shape 13"/>
          <p:cNvSpPr/>
          <p:nvPr/>
        </p:nvSpPr>
        <p:spPr>
          <a:xfrm>
            <a:off x="457200" y="4297680"/>
            <a:ext cx="8229600" cy="475488"/>
          </a:xfrm>
          <a:prstGeom prst="roundRect">
            <a:avLst>
              <a:gd name="adj" fmla="val 15385"/>
            </a:avLst>
          </a:prstGeom>
          <a:solidFill>
            <a:srgbClr val="1D6A5C"/>
          </a:solidFill>
          <a:ln/>
        </p:spPr>
      </p:sp>
      <p:sp>
        <p:nvSpPr>
          <p:cNvPr id="16" name="Text 14"/>
          <p:cNvSpPr/>
          <p:nvPr/>
        </p:nvSpPr>
        <p:spPr>
          <a:xfrm>
            <a:off x="457200" y="4297680"/>
            <a:ext cx="8229600"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Questions before we begin?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MUC01 Trainer Briefing — Retail Sales Pulse</dc:title>
  <dc:subject>PptxGenJS Presentation</dc:subject>
  <dc:creator>PptxGenJS</dc:creator>
  <cp:lastModifiedBy>PptxGenJS</cp:lastModifiedBy>
  <cp:revision>1</cp:revision>
  <dcterms:created xsi:type="dcterms:W3CDTF">2026-08-28T18:29:32Z</dcterms:created>
  <dcterms:modified xsi:type="dcterms:W3CDTF">2026-08-28T18:29:32Z</dcterms:modified>
</cp:coreProperties>
</file>